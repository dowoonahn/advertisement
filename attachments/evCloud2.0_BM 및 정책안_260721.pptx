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73" r:id="rId1"/>
  </p:sldMasterIdLst>
  <p:notesMasterIdLst>
    <p:notesMasterId r:id="rId12"/>
  </p:notesMasterIdLst>
  <p:sldIdLst>
    <p:sldId id="256" r:id="rId2"/>
    <p:sldId id="3565" r:id="rId3"/>
    <p:sldId id="3572" r:id="rId4"/>
    <p:sldId id="3576" r:id="rId5"/>
    <p:sldId id="3578" r:id="rId6"/>
    <p:sldId id="3556" r:id="rId7"/>
    <p:sldId id="3571" r:id="rId8"/>
    <p:sldId id="3573" r:id="rId9"/>
    <p:sldId id="3579" r:id="rId10"/>
    <p:sldId id="265" r:id="rId11"/>
  </p:sldIdLst>
  <p:sldSz cx="12192000" cy="6858000"/>
  <p:notesSz cx="6735763" cy="9866313"/>
  <p:embeddedFontLst>
    <p:embeddedFont>
      <p:font typeface="Noto Sans KR Black" panose="020B0200000000000000" pitchFamily="50" charset="-127"/>
      <p:bold r:id="rId13"/>
    </p:embeddedFont>
    <p:embeddedFont>
      <p:font typeface="Noto Sans KR Medium" panose="020B0200000000000000" pitchFamily="50" charset="-127"/>
      <p:regular r:id="rId1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5B16"/>
    <a:srgbClr val="92D050"/>
    <a:srgbClr val="3F3F3F"/>
    <a:srgbClr val="6DB328"/>
    <a:srgbClr val="003578"/>
    <a:srgbClr val="929292"/>
    <a:srgbClr val="FCC5B1"/>
    <a:srgbClr val="EAB494"/>
    <a:srgbClr val="F07F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 autoAdjust="0"/>
    <p:restoredTop sz="95026" autoAdjust="0"/>
  </p:normalViewPr>
  <p:slideViewPr>
    <p:cSldViewPr snapToGrid="0">
      <p:cViewPr varScale="1">
        <p:scale>
          <a:sx n="78" d="100"/>
          <a:sy n="78" d="100"/>
        </p:scale>
        <p:origin x="696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75" d="100"/>
          <a:sy n="75" d="100"/>
        </p:scale>
        <p:origin x="403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KR Medium" panose="020B0200000000000000" pitchFamily="50" charset="-127"/>
                <a:ea typeface="Noto Sans KR Medium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KR Medium" panose="020B0200000000000000" pitchFamily="50" charset="-127"/>
                <a:ea typeface="Noto Sans KR Medium" panose="020B0200000000000000" pitchFamily="50" charset="-127"/>
              </a:defRPr>
            </a:lvl1pPr>
          </a:lstStyle>
          <a:p>
            <a:fld id="{66F6117E-04E3-437B-89E5-B8350683B224}" type="datetimeFigureOut">
              <a:rPr lang="ko-KR" altLang="en-US" smtClean="0"/>
              <a:pPr/>
              <a:t>2026-07-23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KR Medium" panose="020B0200000000000000" pitchFamily="50" charset="-127"/>
                <a:ea typeface="Noto Sans KR Medium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KR Medium" panose="020B0200000000000000" pitchFamily="50" charset="-127"/>
                <a:ea typeface="Noto Sans KR Medium" panose="020B0200000000000000" pitchFamily="50" charset="-127"/>
              </a:defRPr>
            </a:lvl1pPr>
          </a:lstStyle>
          <a:p>
            <a:fld id="{1E996F78-E0F6-4F67-9A07-7AC5A4D289C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0074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Noto Sans KR Medium" panose="020B0200000000000000" pitchFamily="50" charset="-127"/>
        <a:ea typeface="Noto Sans KR Medium" panose="020B0200000000000000" pitchFamily="50" charset="-127"/>
        <a:cs typeface="+mn-cs"/>
      </a:defRPr>
    </a:lvl1pPr>
  </p:notesStyle>
  <p:extLst>
    <p:ext uri="{620B2872-D7B9-4A21-9093-7833F8D536E1}">
      <p15:sldGuideLst xmlns:p15="http://schemas.microsoft.com/office/powerpoint/2012/main">
        <p15:guide id="1" orient="horz" pos="3107" userDrawn="1">
          <p15:clr>
            <a:srgbClr val="F26B43"/>
          </p15:clr>
        </p15:guide>
        <p15:guide id="2" pos="212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96F78-E0F6-4F67-9A07-7AC5A4D289C5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8782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개소 당</a:t>
            </a:r>
            <a:r>
              <a:rPr lang="en-US" altLang="ko-KR" dirty="0"/>
              <a:t>, </a:t>
            </a:r>
            <a:r>
              <a:rPr lang="ko-KR" altLang="en-US" dirty="0"/>
              <a:t>최대 연동 수 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96F78-E0F6-4F67-9A07-7AC5A4D289C5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3077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포인트의　경우　특정　아파트　제외</a:t>
            </a:r>
            <a:endParaRPr lang="en-US" altLang="ko-KR" dirty="0"/>
          </a:p>
          <a:p>
            <a:r>
              <a:rPr lang="ko-KR" altLang="en-US" dirty="0"/>
              <a:t>프로 가격 수정</a:t>
            </a:r>
            <a:endParaRPr lang="en-US" altLang="ko-KR" dirty="0"/>
          </a:p>
          <a:p>
            <a:r>
              <a:rPr lang="ko-KR" altLang="en-US" dirty="0"/>
              <a:t>로밍의 경우 기당 </a:t>
            </a:r>
            <a:r>
              <a:rPr lang="ko-KR" altLang="en-US" dirty="0" err="1"/>
              <a:t>연동비</a:t>
            </a:r>
            <a:r>
              <a:rPr lang="ko-KR" altLang="en-US" dirty="0"/>
              <a:t> 얼마</a:t>
            </a:r>
            <a:r>
              <a:rPr lang="en-US" altLang="ko-KR" dirty="0"/>
              <a:t>, </a:t>
            </a:r>
            <a:r>
              <a:rPr lang="ko-KR" altLang="en-US" dirty="0" err="1"/>
              <a:t>과금없음</a:t>
            </a:r>
            <a:endParaRPr lang="en-US" altLang="ko-KR" dirty="0"/>
          </a:p>
          <a:p>
            <a:r>
              <a:rPr lang="en-US" altLang="ko-KR" dirty="0"/>
              <a:t>V2G</a:t>
            </a:r>
            <a:r>
              <a:rPr lang="ko-KR" altLang="en-US" dirty="0"/>
              <a:t>기능 삭제</a:t>
            </a:r>
            <a:r>
              <a:rPr lang="en-US" altLang="ko-KR" dirty="0"/>
              <a:t>, </a:t>
            </a:r>
            <a:r>
              <a:rPr lang="en-US" altLang="ko-KR" dirty="0" err="1"/>
              <a:t>PnC</a:t>
            </a:r>
            <a:r>
              <a:rPr lang="en-US" altLang="ko-KR" dirty="0"/>
              <a:t>  </a:t>
            </a:r>
          </a:p>
          <a:p>
            <a:r>
              <a:rPr lang="en-US" altLang="ko-KR" dirty="0"/>
              <a:t>Pro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기능 재검토</a:t>
            </a:r>
            <a:endParaRPr lang="en-US" altLang="ko-KR" dirty="0"/>
          </a:p>
          <a:p>
            <a:r>
              <a:rPr lang="en-US" altLang="ko-KR" dirty="0"/>
              <a:t>PRO</a:t>
            </a:r>
            <a:r>
              <a:rPr lang="ko-KR" altLang="en-US" dirty="0"/>
              <a:t>의 변별력</a:t>
            </a:r>
            <a:r>
              <a:rPr lang="en-US" altLang="ko-KR" dirty="0"/>
              <a:t>, </a:t>
            </a:r>
            <a:r>
              <a:rPr lang="ko-KR" altLang="en-US" dirty="0"/>
              <a:t>이점이 크게 없다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프로의 구간을 검토</a:t>
            </a:r>
            <a:r>
              <a:rPr lang="en-US" altLang="ko-KR" dirty="0"/>
              <a:t>, </a:t>
            </a:r>
            <a:r>
              <a:rPr lang="ko-KR" altLang="en-US" dirty="0"/>
              <a:t>차별화 필요</a:t>
            </a:r>
            <a:endParaRPr lang="en-US" altLang="ko-KR" dirty="0"/>
          </a:p>
          <a:p>
            <a:r>
              <a:rPr lang="en-US" altLang="ko-KR" dirty="0"/>
              <a:t>29</a:t>
            </a:r>
            <a:r>
              <a:rPr lang="ko-KR" altLang="en-US" dirty="0"/>
              <a:t>일 버그 잡기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96F78-E0F6-4F67-9A07-7AC5A4D289C5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29621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B5896-2408-8BCD-406F-8A5E8A818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FF767F-F171-111C-D7C9-84A1DA88D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89C294-FD0B-2E07-C728-A896D5859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880CAB-6B50-AD19-7BF7-8052C63A5C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96F78-E0F6-4F67-9A07-7AC5A4D289C5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88097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사이트별 과금 </a:t>
            </a:r>
            <a:r>
              <a:rPr lang="en-US" altLang="ko-KR" dirty="0"/>
              <a:t>(</a:t>
            </a:r>
            <a:r>
              <a:rPr lang="ko-KR" altLang="en-US" dirty="0"/>
              <a:t>고객 리스트</a:t>
            </a:r>
            <a:r>
              <a:rPr lang="en-US" altLang="ko-KR" dirty="0"/>
              <a:t>) </a:t>
            </a:r>
            <a:r>
              <a:rPr lang="ko-KR" altLang="en-US" dirty="0"/>
              <a:t>정기</a:t>
            </a:r>
            <a:r>
              <a:rPr lang="en-US" altLang="ko-KR" dirty="0"/>
              <a:t>/</a:t>
            </a:r>
            <a:r>
              <a:rPr lang="ko-KR" altLang="en-US" dirty="0" err="1"/>
              <a:t>비정기</a:t>
            </a:r>
            <a:r>
              <a:rPr lang="ko-KR" altLang="en-US" dirty="0"/>
              <a:t> 마스터 관리 </a:t>
            </a:r>
            <a:r>
              <a:rPr lang="ko-KR" altLang="en-US" dirty="0" err="1"/>
              <a:t>딴에서</a:t>
            </a:r>
            <a:r>
              <a:rPr lang="ko-KR" altLang="en-US" dirty="0"/>
              <a:t> 필요</a:t>
            </a:r>
            <a:r>
              <a:rPr lang="en-US" altLang="ko-KR" dirty="0"/>
              <a:t>, </a:t>
            </a:r>
            <a:r>
              <a:rPr lang="ko-KR" altLang="en-US" dirty="0"/>
              <a:t>정산표가 고객에게 도달해야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96F78-E0F6-4F67-9A07-7AC5A4D289C5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46137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일정에 대하여 정확하게 수립하게끔 연구소에 문의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96F78-E0F6-4F67-9A07-7AC5A4D289C5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8889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04B997C-8E39-AF34-7545-A73609E93332}"/>
              </a:ext>
            </a:extLst>
          </p:cNvPr>
          <p:cNvSpPr/>
          <p:nvPr userDrawn="1"/>
        </p:nvSpPr>
        <p:spPr>
          <a:xfrm>
            <a:off x="-1" y="1"/>
            <a:ext cx="12192000" cy="1216240"/>
          </a:xfrm>
          <a:prstGeom prst="rect">
            <a:avLst/>
          </a:prstGeom>
          <a:solidFill>
            <a:srgbClr val="0337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6F1FA5A-0FCB-7CA9-ACA0-8EA29A237A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FACD51E-F5A1-16CB-45B7-105049001C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64176" y="865351"/>
            <a:ext cx="571822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572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8F301200-031A-EDCF-984F-C9EF85B1CCAB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그림 2" descr="차량, 거울, 야외, 육상 차량이(가) 표시된 사진&#10;&#10;자동 생성된 설명">
              <a:extLst>
                <a:ext uri="{FF2B5EF4-FFF2-40B4-BE49-F238E27FC236}">
                  <a16:creationId xmlns:a16="http://schemas.microsoft.com/office/drawing/2014/main" id="{BBD6A579-07D4-AFFE-08C9-3645C69862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8617" r="57547"/>
            <a:stretch/>
          </p:blipFill>
          <p:spPr>
            <a:xfrm>
              <a:off x="4408899" y="0"/>
              <a:ext cx="7783101" cy="6858000"/>
            </a:xfrm>
            <a:prstGeom prst="rect">
              <a:avLst/>
            </a:prstGeom>
          </p:spPr>
        </p:pic>
        <p:sp>
          <p:nvSpPr>
            <p:cNvPr id="4" name="자유형 11">
              <a:extLst>
                <a:ext uri="{FF2B5EF4-FFF2-40B4-BE49-F238E27FC236}">
                  <a16:creationId xmlns:a16="http://schemas.microsoft.com/office/drawing/2014/main" id="{19230158-8A29-1764-EB0E-481A1E59698D}"/>
                </a:ext>
              </a:extLst>
            </p:cNvPr>
            <p:cNvSpPr/>
            <p:nvPr/>
          </p:nvSpPr>
          <p:spPr>
            <a:xfrm>
              <a:off x="1" y="0"/>
              <a:ext cx="7683469" cy="6858000"/>
            </a:xfrm>
            <a:custGeom>
              <a:avLst/>
              <a:gdLst>
                <a:gd name="connsiteX0" fmla="*/ 0 w 7683469"/>
                <a:gd name="connsiteY0" fmla="*/ 0 h 6858000"/>
                <a:gd name="connsiteX1" fmla="*/ 7683469 w 7683469"/>
                <a:gd name="connsiteY1" fmla="*/ 0 h 6858000"/>
                <a:gd name="connsiteX2" fmla="*/ 7638566 w 7683469"/>
                <a:gd name="connsiteY2" fmla="*/ 32440 h 6858000"/>
                <a:gd name="connsiteX3" fmla="*/ 5962650 w 7683469"/>
                <a:gd name="connsiteY3" fmla="*/ 3429000 h 6858000"/>
                <a:gd name="connsiteX4" fmla="*/ 7638566 w 7683469"/>
                <a:gd name="connsiteY4" fmla="*/ 6825561 h 6858000"/>
                <a:gd name="connsiteX5" fmla="*/ 7683469 w 7683469"/>
                <a:gd name="connsiteY5" fmla="*/ 6858000 h 6858000"/>
                <a:gd name="connsiteX6" fmla="*/ 0 w 7683469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83469" h="6858000">
                  <a:moveTo>
                    <a:pt x="0" y="0"/>
                  </a:moveTo>
                  <a:lnTo>
                    <a:pt x="7683469" y="0"/>
                  </a:lnTo>
                  <a:lnTo>
                    <a:pt x="7638566" y="32440"/>
                  </a:lnTo>
                  <a:cubicBezTo>
                    <a:pt x="6621182" y="805404"/>
                    <a:pt x="5962650" y="2039074"/>
                    <a:pt x="5962650" y="3429000"/>
                  </a:cubicBezTo>
                  <a:cubicBezTo>
                    <a:pt x="5962650" y="4818926"/>
                    <a:pt x="6621182" y="6052596"/>
                    <a:pt x="7638566" y="6825561"/>
                  </a:cubicBezTo>
                  <a:lnTo>
                    <a:pt x="768346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  <p:sp>
          <p:nvSpPr>
            <p:cNvPr id="5" name="부제목 2">
              <a:extLst>
                <a:ext uri="{FF2B5EF4-FFF2-40B4-BE49-F238E27FC236}">
                  <a16:creationId xmlns:a16="http://schemas.microsoft.com/office/drawing/2014/main" id="{F86301A8-EB82-016C-3668-7E77F8C3D2A5}"/>
                </a:ext>
              </a:extLst>
            </p:cNvPr>
            <p:cNvSpPr txBox="1">
              <a:spLocks/>
            </p:cNvSpPr>
            <p:nvPr/>
          </p:nvSpPr>
          <p:spPr>
            <a:xfrm>
              <a:off x="8499655" y="6440778"/>
              <a:ext cx="3529244" cy="349397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1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TARDIS Technology,</a:t>
              </a: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 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Inc.</a:t>
              </a: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  <p:pic>
          <p:nvPicPr>
            <p:cNvPr id="6" name="Picture 2" descr="타디스테크놀로지">
              <a:extLst>
                <a:ext uri="{FF2B5EF4-FFF2-40B4-BE49-F238E27FC236}">
                  <a16:creationId xmlns:a16="http://schemas.microsoft.com/office/drawing/2014/main" id="{CFC9C50C-FFEB-BFCD-F2BA-E856ABDEFC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8473" y="5139327"/>
              <a:ext cx="1490663" cy="577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8" name="직선 연결선[R] 10">
              <a:extLst>
                <a:ext uri="{FF2B5EF4-FFF2-40B4-BE49-F238E27FC236}">
                  <a16:creationId xmlns:a16="http://schemas.microsoft.com/office/drawing/2014/main" id="{A311E71A-612C-03E6-D5B1-55D2FAFD30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1498" y="5948193"/>
              <a:ext cx="5393643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17DD625-3B04-D4FD-2AAD-4DAF60242A11}"/>
                </a:ext>
              </a:extLst>
            </p:cNvPr>
            <p:cNvSpPr/>
            <p:nvPr/>
          </p:nvSpPr>
          <p:spPr>
            <a:xfrm>
              <a:off x="0" y="0"/>
              <a:ext cx="228600" cy="6858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8324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3767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25">
          <p15:clr>
            <a:srgbClr val="F26B43"/>
          </p15:clr>
        </p15:guide>
        <p15:guide id="2" pos="7355">
          <p15:clr>
            <a:srgbClr val="F26B43"/>
          </p15:clr>
        </p15:guide>
        <p15:guide id="3" orient="horz" pos="41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9C600C-FFF5-41D0-9D21-B4C7359181C2}"/>
              </a:ext>
            </a:extLst>
          </p:cNvPr>
          <p:cNvSpPr txBox="1"/>
          <p:nvPr/>
        </p:nvSpPr>
        <p:spPr>
          <a:xfrm>
            <a:off x="888249" y="2293076"/>
            <a:ext cx="7219431" cy="114668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6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Roboto Black" panose="02000000000000000000" pitchFamily="50" charset="0"/>
              </a:rPr>
              <a:t>evCloud</a:t>
            </a:r>
            <a:r>
              <a:rPr lang="en-US" altLang="ko-KR" sz="36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Roboto Black" panose="02000000000000000000" pitchFamily="50" charset="0"/>
              </a:rPr>
              <a:t> 2.0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6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Roboto Black" panose="02000000000000000000" pitchFamily="50" charset="0"/>
              </a:rPr>
              <a:t>사업 모델 및 정책</a:t>
            </a:r>
            <a:r>
              <a:rPr lang="en-US" altLang="ko-KR" sz="36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Roboto Black" panose="02000000000000000000" pitchFamily="50" charset="0"/>
              </a:rPr>
              <a:t>(</a:t>
            </a:r>
            <a:r>
              <a:rPr lang="ko-KR" altLang="en-US" sz="36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Roboto Black" panose="02000000000000000000" pitchFamily="50" charset="0"/>
              </a:rPr>
              <a:t>안</a:t>
            </a:r>
            <a:r>
              <a:rPr lang="en-US" altLang="ko-KR" sz="36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Roboto Black" panose="02000000000000000000" pitchFamily="50" charset="0"/>
              </a:rPr>
              <a:t>)</a:t>
            </a:r>
            <a:endParaRPr kumimoji="0" lang="en-US" altLang="ko-KR" sz="3600" b="1" i="0" u="none" strike="noStrike" kern="1200" cap="none" spc="0" normalizeH="0" baseline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Roboto Black" panose="02000000000000000000" pitchFamily="50" charset="0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91910B3-3E16-DC33-5453-78D8926183AB}"/>
              </a:ext>
            </a:extLst>
          </p:cNvPr>
          <p:cNvSpPr txBox="1">
            <a:spLocks/>
          </p:cNvSpPr>
          <p:nvPr/>
        </p:nvSpPr>
        <p:spPr>
          <a:xfrm>
            <a:off x="827113" y="4751129"/>
            <a:ext cx="3249127" cy="259444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Noto Sans" panose="020B0502040504020204" pitchFamily="34" charset="0"/>
              </a:rPr>
              <a:t>미래 에너지 생활을 설계합니다</a:t>
            </a:r>
            <a:r>
              <a:rPr kumimoji="1" lang="en-US" altLang="ko-KR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Noto Sans" panose="020B0502040504020204" pitchFamily="34" charset="0"/>
              </a:rPr>
              <a:t>.</a:t>
            </a:r>
            <a:endParaRPr kumimoji="0" lang="ko-KR" alt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000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1FB5A-43E5-E040-0B9E-5FB30BC4D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2">
            <a:extLst>
              <a:ext uri="{FF2B5EF4-FFF2-40B4-BE49-F238E27FC236}">
                <a16:creationId xmlns:a16="http://schemas.microsoft.com/office/drawing/2014/main" id="{3DE894E8-5418-1E9D-BA0F-411C5EF960DF}"/>
              </a:ext>
            </a:extLst>
          </p:cNvPr>
          <p:cNvSpPr txBox="1">
            <a:spLocks/>
          </p:cNvSpPr>
          <p:nvPr/>
        </p:nvSpPr>
        <p:spPr>
          <a:xfrm>
            <a:off x="611232" y="688788"/>
            <a:ext cx="8987995" cy="332399"/>
          </a:xfrm>
          <a:prstGeom prst="rect">
            <a:avLst/>
          </a:prstGeom>
        </p:spPr>
        <p:txBody>
          <a:bodyPr lIns="0" tIns="0" rIns="0" bIns="0"/>
          <a:lstStyle>
            <a:lvl1pPr algn="l" defTabSz="103674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98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gradFill>
                  <a:gsLst>
                    <a:gs pos="57522">
                      <a:schemeClr val="bg1"/>
                    </a:gs>
                    <a:gs pos="51000">
                      <a:schemeClr val="bg1"/>
                    </a:gs>
                  </a:gsLst>
                  <a:lin ang="5400000" scaled="1"/>
                </a:gra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사업 모델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30FC9E06-BE7E-C117-DCC1-26A611475545}"/>
              </a:ext>
            </a:extLst>
          </p:cNvPr>
          <p:cNvSpPr/>
          <p:nvPr/>
        </p:nvSpPr>
        <p:spPr>
          <a:xfrm>
            <a:off x="528912" y="1893206"/>
            <a:ext cx="1440000" cy="144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evCloud</a:t>
            </a:r>
            <a:r>
              <a:rPr lang="en-US" altLang="ko-KR" sz="11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2.0</a:t>
            </a:r>
            <a:endParaRPr lang="ko-KR" altLang="en-US" sz="11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12AD25A-17C1-3DD6-D508-AF4A65225060}"/>
              </a:ext>
            </a:extLst>
          </p:cNvPr>
          <p:cNvSpPr/>
          <p:nvPr/>
        </p:nvSpPr>
        <p:spPr>
          <a:xfrm rot="10800000" flipV="1">
            <a:off x="2270208" y="1555984"/>
            <a:ext cx="1979062" cy="3600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핵심 전략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7E37225C-5F4F-6571-6B39-1C8CF361E980}"/>
              </a:ext>
            </a:extLst>
          </p:cNvPr>
          <p:cNvCxnSpPr/>
          <p:nvPr/>
        </p:nvCxnSpPr>
        <p:spPr>
          <a:xfrm>
            <a:off x="2084759" y="1561654"/>
            <a:ext cx="0" cy="2340000"/>
          </a:xfrm>
          <a:prstGeom prst="line">
            <a:avLst/>
          </a:prstGeom>
          <a:ln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97B2B3AB-CB93-3770-BE4B-FEB94DB98DBD}"/>
              </a:ext>
            </a:extLst>
          </p:cNvPr>
          <p:cNvCxnSpPr/>
          <p:nvPr/>
        </p:nvCxnSpPr>
        <p:spPr>
          <a:xfrm>
            <a:off x="4469695" y="1555984"/>
            <a:ext cx="0" cy="2340000"/>
          </a:xfrm>
          <a:prstGeom prst="line">
            <a:avLst/>
          </a:prstGeom>
          <a:ln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5C02664-04A4-20D3-9958-0953E70C64C7}"/>
              </a:ext>
            </a:extLst>
          </p:cNvPr>
          <p:cNvSpPr/>
          <p:nvPr/>
        </p:nvSpPr>
        <p:spPr>
          <a:xfrm rot="10800000" flipV="1">
            <a:off x="9384659" y="1555984"/>
            <a:ext cx="1979997" cy="3600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Sales</a:t>
            </a:r>
            <a:r>
              <a:rPr lang="ko-KR" altLang="en-US" sz="1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1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Talk</a:t>
            </a:r>
            <a:endParaRPr lang="ko-KR" altLang="en-US" sz="1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2841FCE-0043-C95A-65DD-4CB474472715}"/>
              </a:ext>
            </a:extLst>
          </p:cNvPr>
          <p:cNvSpPr/>
          <p:nvPr/>
        </p:nvSpPr>
        <p:spPr>
          <a:xfrm>
            <a:off x="2270208" y="2310067"/>
            <a:ext cx="1980000" cy="14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 err="1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evCloud</a:t>
            </a:r>
            <a: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관리시스템</a:t>
            </a:r>
            <a: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</a:t>
            </a:r>
          </a:p>
          <a:p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     무료 배포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96BC7F7-5497-8ECE-9359-18993D1D5205}"/>
              </a:ext>
            </a:extLst>
          </p:cNvPr>
          <p:cNvSpPr/>
          <p:nvPr/>
        </p:nvSpPr>
        <p:spPr>
          <a:xfrm rot="10800000" flipV="1">
            <a:off x="4679205" y="1555984"/>
            <a:ext cx="1979999" cy="3600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핵심 목표</a:t>
            </a: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DE478902-46F8-6A17-EB77-3B63ACC9ACE1}"/>
              </a:ext>
            </a:extLst>
          </p:cNvPr>
          <p:cNvCxnSpPr/>
          <p:nvPr/>
        </p:nvCxnSpPr>
        <p:spPr>
          <a:xfrm>
            <a:off x="6851799" y="1555984"/>
            <a:ext cx="0" cy="2340000"/>
          </a:xfrm>
          <a:prstGeom prst="line">
            <a:avLst/>
          </a:prstGeom>
          <a:ln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9FEE967-2FDF-1D1B-D3DD-46F24254CDA2}"/>
              </a:ext>
            </a:extLst>
          </p:cNvPr>
          <p:cNvSpPr/>
          <p:nvPr/>
        </p:nvSpPr>
        <p:spPr>
          <a:xfrm>
            <a:off x="4679206" y="2310067"/>
            <a:ext cx="1980000" cy="14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서비스 이용 고객 </a:t>
            </a:r>
            <a:b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</a:b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극대화를 통한 수익 모델 증대</a:t>
            </a:r>
            <a:b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</a:br>
            <a: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</a:t>
            </a:r>
            <a:r>
              <a:rPr lang="en-US" altLang="ko-KR" sz="1000" dirty="0" err="1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evCloud</a:t>
            </a:r>
            <a: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=</a:t>
            </a: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고객 접점</a:t>
            </a:r>
            <a: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</a:t>
            </a:r>
            <a:endParaRPr lang="ko-KR" altLang="en-US" sz="10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7FEFE66-B09B-9FE9-B138-538F2666C839}"/>
              </a:ext>
            </a:extLst>
          </p:cNvPr>
          <p:cNvSpPr/>
          <p:nvPr/>
        </p:nvSpPr>
        <p:spPr>
          <a:xfrm rot="10800000" flipV="1">
            <a:off x="7009520" y="1555984"/>
            <a:ext cx="1979999" cy="3600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수익 모델</a:t>
            </a: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BC27511D-BE6B-5093-A014-21F083B5964E}"/>
              </a:ext>
            </a:extLst>
          </p:cNvPr>
          <p:cNvCxnSpPr/>
          <p:nvPr/>
        </p:nvCxnSpPr>
        <p:spPr>
          <a:xfrm>
            <a:off x="9200044" y="1555984"/>
            <a:ext cx="0" cy="2340000"/>
          </a:xfrm>
          <a:prstGeom prst="line">
            <a:avLst/>
          </a:prstGeom>
          <a:ln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112E771B-3BE8-5473-10DC-F48CD862BFA9}"/>
              </a:ext>
            </a:extLst>
          </p:cNvPr>
          <p:cNvSpPr/>
          <p:nvPr/>
        </p:nvSpPr>
        <p:spPr>
          <a:xfrm>
            <a:off x="7009521" y="2310067"/>
            <a:ext cx="1980000" cy="14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10</a:t>
            </a: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기 초과시 </a:t>
            </a:r>
            <a: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</a:t>
            </a: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기 연동</a:t>
            </a:r>
            <a:endParaRPr lang="en-US" altLang="ko-KR" sz="10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운영 서비스</a:t>
            </a:r>
            <a: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콜센터</a:t>
            </a:r>
            <a: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A/S)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통신</a:t>
            </a:r>
            <a: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라우터 비용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31FABB8-F1D1-727D-FE0F-BDB96A4ACDB5}"/>
              </a:ext>
            </a:extLst>
          </p:cNvPr>
          <p:cNvSpPr/>
          <p:nvPr/>
        </p:nvSpPr>
        <p:spPr>
          <a:xfrm>
            <a:off x="9384660" y="2310067"/>
            <a:ext cx="1980000" cy="14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低 충전요금 설정 가능</a:t>
            </a:r>
            <a:endParaRPr lang="en-US" altLang="ko-KR" sz="10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운영 비용 절감</a:t>
            </a:r>
            <a:endParaRPr lang="en-US" altLang="ko-KR" sz="10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수익 창출 가능</a:t>
            </a:r>
            <a:endParaRPr lang="en-US" altLang="ko-KR" sz="10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운영 리소스 없음</a:t>
            </a: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ADCA046F-F521-A4C6-6995-098799A6A091}"/>
              </a:ext>
            </a:extLst>
          </p:cNvPr>
          <p:cNvGrpSpPr/>
          <p:nvPr/>
        </p:nvGrpSpPr>
        <p:grpSpPr>
          <a:xfrm>
            <a:off x="2815537" y="4425455"/>
            <a:ext cx="2304198" cy="1893014"/>
            <a:chOff x="2080427" y="4416491"/>
            <a:chExt cx="2304198" cy="1893014"/>
          </a:xfrm>
        </p:grpSpPr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9C78AC10-1406-F325-D271-B89133ACDCC9}"/>
                </a:ext>
              </a:extLst>
            </p:cNvPr>
            <p:cNvSpPr/>
            <p:nvPr/>
          </p:nvSpPr>
          <p:spPr>
            <a:xfrm>
              <a:off x="2793294" y="5052410"/>
              <a:ext cx="900000" cy="900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565A2A-DD75-3934-C718-A2D5D907AA14}"/>
                </a:ext>
              </a:extLst>
            </p:cNvPr>
            <p:cNvSpPr txBox="1"/>
            <p:nvPr/>
          </p:nvSpPr>
          <p:spPr>
            <a:xfrm>
              <a:off x="2757432" y="5378944"/>
              <a:ext cx="97188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 err="1">
                  <a:solidFill>
                    <a:schemeClr val="bg1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evCloud</a:t>
              </a:r>
              <a:r>
                <a:rPr lang="en-US" altLang="ko-KR" sz="1000" dirty="0">
                  <a:solidFill>
                    <a:schemeClr val="bg1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 2.0</a:t>
              </a:r>
              <a:endParaRPr lang="ko-KR" altLang="en-US" sz="10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906908F8-6D6C-7C0A-BCCB-6B01FC456795}"/>
                </a:ext>
              </a:extLst>
            </p:cNvPr>
            <p:cNvGrpSpPr/>
            <p:nvPr/>
          </p:nvGrpSpPr>
          <p:grpSpPr>
            <a:xfrm>
              <a:off x="2080427" y="5793353"/>
              <a:ext cx="971883" cy="504000"/>
              <a:chOff x="2053533" y="5766459"/>
              <a:chExt cx="971883" cy="504000"/>
            </a:xfrm>
          </p:grpSpPr>
          <p:sp>
            <p:nvSpPr>
              <p:cNvPr id="67" name="타원 66">
                <a:extLst>
                  <a:ext uri="{FF2B5EF4-FFF2-40B4-BE49-F238E27FC236}">
                    <a16:creationId xmlns:a16="http://schemas.microsoft.com/office/drawing/2014/main" id="{0B303F9D-DF66-B2D7-02EC-39CC70D48E0E}"/>
                  </a:ext>
                </a:extLst>
              </p:cNvPr>
              <p:cNvSpPr/>
              <p:nvPr/>
            </p:nvSpPr>
            <p:spPr>
              <a:xfrm>
                <a:off x="2289422" y="5766459"/>
                <a:ext cx="504000" cy="504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>
                  <a:latin typeface="Noto Sans KR Medium" panose="020B0200000000000000" pitchFamily="50" charset="-127"/>
                  <a:ea typeface="Noto Sans KR Medium" panose="020B0200000000000000" pitchFamily="50" charset="-127"/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F199B7E-B9F8-4EE2-6F8E-0AD15CBBBB52}"/>
                  </a:ext>
                </a:extLst>
              </p:cNvPr>
              <p:cNvSpPr txBox="1"/>
              <p:nvPr/>
            </p:nvSpPr>
            <p:spPr>
              <a:xfrm>
                <a:off x="2053533" y="5845945"/>
                <a:ext cx="9718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Noto Sans KR Black" panose="020B0200000000000000" pitchFamily="50" charset="-127"/>
                    <a:ea typeface="Noto Sans KR Black" panose="020B0200000000000000" pitchFamily="50" charset="-127"/>
                  </a:rPr>
                  <a:t>수익</a:t>
                </a:r>
                <a:br>
                  <a:rPr lang="en-US" altLang="ko-KR" sz="900" dirty="0">
                    <a:solidFill>
                      <a:schemeClr val="bg1"/>
                    </a:solidFill>
                    <a:latin typeface="Noto Sans KR Black" panose="020B0200000000000000" pitchFamily="50" charset="-127"/>
                    <a:ea typeface="Noto Sans KR Black" panose="020B0200000000000000" pitchFamily="50" charset="-127"/>
                  </a:rPr>
                </a:br>
                <a:r>
                  <a:rPr lang="ko-KR" altLang="en-US" sz="900" dirty="0">
                    <a:solidFill>
                      <a:schemeClr val="bg1"/>
                    </a:solidFill>
                    <a:latin typeface="Noto Sans KR Black" panose="020B0200000000000000" pitchFamily="50" charset="-127"/>
                    <a:ea typeface="Noto Sans KR Black" panose="020B0200000000000000" pitchFamily="50" charset="-127"/>
                  </a:rPr>
                  <a:t>모델</a:t>
                </a:r>
              </a:p>
            </p:txBody>
          </p:sp>
        </p:grp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6C7FFD04-736D-3C47-3AEE-1318005D2508}"/>
                </a:ext>
              </a:extLst>
            </p:cNvPr>
            <p:cNvGrpSpPr/>
            <p:nvPr/>
          </p:nvGrpSpPr>
          <p:grpSpPr>
            <a:xfrm>
              <a:off x="3412742" y="5805505"/>
              <a:ext cx="971883" cy="504000"/>
              <a:chOff x="2053533" y="5775424"/>
              <a:chExt cx="971883" cy="504000"/>
            </a:xfrm>
          </p:grpSpPr>
          <p:sp>
            <p:nvSpPr>
              <p:cNvPr id="72" name="타원 71">
                <a:extLst>
                  <a:ext uri="{FF2B5EF4-FFF2-40B4-BE49-F238E27FC236}">
                    <a16:creationId xmlns:a16="http://schemas.microsoft.com/office/drawing/2014/main" id="{8B3FB956-CDCA-C0D1-35D7-CCCACA7F5B47}"/>
                  </a:ext>
                </a:extLst>
              </p:cNvPr>
              <p:cNvSpPr/>
              <p:nvPr/>
            </p:nvSpPr>
            <p:spPr>
              <a:xfrm>
                <a:off x="2289422" y="5775424"/>
                <a:ext cx="504000" cy="504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>
                  <a:latin typeface="Noto Sans KR Medium" panose="020B0200000000000000" pitchFamily="50" charset="-127"/>
                  <a:ea typeface="Noto Sans KR Medium" panose="020B0200000000000000" pitchFamily="50" charset="-127"/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3D59626-18DE-35C5-D728-E8FD36EAEA59}"/>
                  </a:ext>
                </a:extLst>
              </p:cNvPr>
              <p:cNvSpPr txBox="1"/>
              <p:nvPr/>
            </p:nvSpPr>
            <p:spPr>
              <a:xfrm>
                <a:off x="2053533" y="5845945"/>
                <a:ext cx="9718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Noto Sans KR Black" panose="020B0200000000000000" pitchFamily="50" charset="-127"/>
                    <a:ea typeface="Noto Sans KR Black" panose="020B0200000000000000" pitchFamily="50" charset="-127"/>
                  </a:rPr>
                  <a:t>수익</a:t>
                </a:r>
                <a:br>
                  <a:rPr lang="en-US" altLang="ko-KR" sz="900" dirty="0">
                    <a:solidFill>
                      <a:schemeClr val="bg1"/>
                    </a:solidFill>
                    <a:latin typeface="Noto Sans KR Black" panose="020B0200000000000000" pitchFamily="50" charset="-127"/>
                    <a:ea typeface="Noto Sans KR Black" panose="020B0200000000000000" pitchFamily="50" charset="-127"/>
                  </a:rPr>
                </a:br>
                <a:r>
                  <a:rPr lang="ko-KR" altLang="en-US" sz="900" dirty="0">
                    <a:solidFill>
                      <a:schemeClr val="bg1"/>
                    </a:solidFill>
                    <a:latin typeface="Noto Sans KR Black" panose="020B0200000000000000" pitchFamily="50" charset="-127"/>
                    <a:ea typeface="Noto Sans KR Black" panose="020B0200000000000000" pitchFamily="50" charset="-127"/>
                  </a:rPr>
                  <a:t>모델</a:t>
                </a:r>
              </a:p>
            </p:txBody>
          </p:sp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2485F9DF-7649-8511-F77A-A842BC06AEB0}"/>
                </a:ext>
              </a:extLst>
            </p:cNvPr>
            <p:cNvGrpSpPr/>
            <p:nvPr/>
          </p:nvGrpSpPr>
          <p:grpSpPr>
            <a:xfrm>
              <a:off x="2748469" y="4416491"/>
              <a:ext cx="971883" cy="504000"/>
              <a:chOff x="2053533" y="5775424"/>
              <a:chExt cx="971883" cy="504000"/>
            </a:xfrm>
          </p:grpSpPr>
          <p:sp>
            <p:nvSpPr>
              <p:cNvPr id="75" name="타원 74">
                <a:extLst>
                  <a:ext uri="{FF2B5EF4-FFF2-40B4-BE49-F238E27FC236}">
                    <a16:creationId xmlns:a16="http://schemas.microsoft.com/office/drawing/2014/main" id="{24DD4DF1-BAF8-5F0E-0FCC-F93C23E740EB}"/>
                  </a:ext>
                </a:extLst>
              </p:cNvPr>
              <p:cNvSpPr/>
              <p:nvPr/>
            </p:nvSpPr>
            <p:spPr>
              <a:xfrm>
                <a:off x="2298387" y="5775424"/>
                <a:ext cx="504000" cy="504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>
                  <a:latin typeface="Noto Sans KR Medium" panose="020B0200000000000000" pitchFamily="50" charset="-127"/>
                  <a:ea typeface="Noto Sans KR Medium" panose="020B0200000000000000" pitchFamily="50" charset="-127"/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ED6B968-5974-1192-B9C7-29C1FAC4D716}"/>
                  </a:ext>
                </a:extLst>
              </p:cNvPr>
              <p:cNvSpPr txBox="1"/>
              <p:nvPr/>
            </p:nvSpPr>
            <p:spPr>
              <a:xfrm>
                <a:off x="2053533" y="5845945"/>
                <a:ext cx="9718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Noto Sans KR Black" panose="020B0200000000000000" pitchFamily="50" charset="-127"/>
                    <a:ea typeface="Noto Sans KR Black" panose="020B0200000000000000" pitchFamily="50" charset="-127"/>
                  </a:rPr>
                  <a:t>수익</a:t>
                </a:r>
                <a:br>
                  <a:rPr lang="en-US" altLang="ko-KR" sz="900" dirty="0">
                    <a:solidFill>
                      <a:schemeClr val="bg1"/>
                    </a:solidFill>
                    <a:latin typeface="Noto Sans KR Black" panose="020B0200000000000000" pitchFamily="50" charset="-127"/>
                    <a:ea typeface="Noto Sans KR Black" panose="020B0200000000000000" pitchFamily="50" charset="-127"/>
                  </a:rPr>
                </a:br>
                <a:r>
                  <a:rPr lang="ko-KR" altLang="en-US" sz="900" dirty="0">
                    <a:solidFill>
                      <a:schemeClr val="bg1"/>
                    </a:solidFill>
                    <a:latin typeface="Noto Sans KR Black" panose="020B0200000000000000" pitchFamily="50" charset="-127"/>
                    <a:ea typeface="Noto Sans KR Black" panose="020B0200000000000000" pitchFamily="50" charset="-127"/>
                  </a:rPr>
                  <a:t>모델</a:t>
                </a:r>
              </a:p>
            </p:txBody>
          </p:sp>
        </p:grp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BBEEC121-D4FB-91B0-F0C8-D1E768880606}"/>
                </a:ext>
              </a:extLst>
            </p:cNvPr>
            <p:cNvCxnSpPr>
              <a:stCxn id="75" idx="4"/>
              <a:endCxn id="54" idx="0"/>
            </p:cNvCxnSpPr>
            <p:nvPr/>
          </p:nvCxnSpPr>
          <p:spPr>
            <a:xfrm flipH="1">
              <a:off x="3243294" y="4920491"/>
              <a:ext cx="2029" cy="1319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C3D7E3EC-FC61-C3C9-A729-4F3CF1099A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57433" y="5766818"/>
              <a:ext cx="131803" cy="1188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A8F6B907-4DE5-0D52-6A3E-3C82A7E798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96478" y="5766818"/>
              <a:ext cx="123874" cy="13109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6" name="그림 85">
            <a:extLst>
              <a:ext uri="{FF2B5EF4-FFF2-40B4-BE49-F238E27FC236}">
                <a16:creationId xmlns:a16="http://schemas.microsoft.com/office/drawing/2014/main" id="{272C8E88-0C12-E356-EF60-C6FE5C1F5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719" y="4351269"/>
            <a:ext cx="756047" cy="621396"/>
          </a:xfrm>
          <a:prstGeom prst="rect">
            <a:avLst/>
          </a:prstGeom>
        </p:spPr>
      </p:pic>
      <p:pic>
        <p:nvPicPr>
          <p:cNvPr id="89" name="그림 88">
            <a:extLst>
              <a:ext uri="{FF2B5EF4-FFF2-40B4-BE49-F238E27FC236}">
                <a16:creationId xmlns:a16="http://schemas.microsoft.com/office/drawing/2014/main" id="{20A86E81-14B0-2D78-C1C8-38A44F7AB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479" y="4357709"/>
            <a:ext cx="756047" cy="621396"/>
          </a:xfrm>
          <a:prstGeom prst="rect">
            <a:avLst/>
          </a:prstGeom>
        </p:spPr>
      </p:pic>
      <p:pic>
        <p:nvPicPr>
          <p:cNvPr id="91" name="그림 90">
            <a:extLst>
              <a:ext uri="{FF2B5EF4-FFF2-40B4-BE49-F238E27FC236}">
                <a16:creationId xmlns:a16="http://schemas.microsoft.com/office/drawing/2014/main" id="{2B297690-24F5-2214-B601-953D43999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265" y="4351268"/>
            <a:ext cx="756047" cy="621396"/>
          </a:xfrm>
          <a:prstGeom prst="rect">
            <a:avLst/>
          </a:prstGeom>
        </p:spPr>
      </p:pic>
      <p:pic>
        <p:nvPicPr>
          <p:cNvPr id="93" name="그림 92">
            <a:extLst>
              <a:ext uri="{FF2B5EF4-FFF2-40B4-BE49-F238E27FC236}">
                <a16:creationId xmlns:a16="http://schemas.microsoft.com/office/drawing/2014/main" id="{F7BD0EB1-3386-2BB3-E74D-8A3C0DD1E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719" y="5036745"/>
            <a:ext cx="756047" cy="621396"/>
          </a:xfrm>
          <a:prstGeom prst="rect">
            <a:avLst/>
          </a:prstGeom>
        </p:spPr>
      </p:pic>
      <p:pic>
        <p:nvPicPr>
          <p:cNvPr id="95" name="그림 94">
            <a:extLst>
              <a:ext uri="{FF2B5EF4-FFF2-40B4-BE49-F238E27FC236}">
                <a16:creationId xmlns:a16="http://schemas.microsoft.com/office/drawing/2014/main" id="{F0932A77-7434-E55F-D2B5-D8E1D9319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479" y="5043185"/>
            <a:ext cx="756047" cy="621396"/>
          </a:xfrm>
          <a:prstGeom prst="rect">
            <a:avLst/>
          </a:prstGeom>
        </p:spPr>
      </p:pic>
      <p:pic>
        <p:nvPicPr>
          <p:cNvPr id="97" name="그림 96">
            <a:extLst>
              <a:ext uri="{FF2B5EF4-FFF2-40B4-BE49-F238E27FC236}">
                <a16:creationId xmlns:a16="http://schemas.microsoft.com/office/drawing/2014/main" id="{E237D336-5A8E-8D12-4D9A-C7A9B7840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265" y="5036744"/>
            <a:ext cx="756047" cy="621396"/>
          </a:xfrm>
          <a:prstGeom prst="rect">
            <a:avLst/>
          </a:prstGeom>
        </p:spPr>
      </p:pic>
      <p:pic>
        <p:nvPicPr>
          <p:cNvPr id="99" name="그림 98">
            <a:extLst>
              <a:ext uri="{FF2B5EF4-FFF2-40B4-BE49-F238E27FC236}">
                <a16:creationId xmlns:a16="http://schemas.microsoft.com/office/drawing/2014/main" id="{BFD16D34-878E-DF97-E464-869FAB930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127" y="5726614"/>
            <a:ext cx="756047" cy="621396"/>
          </a:xfrm>
          <a:prstGeom prst="rect">
            <a:avLst/>
          </a:prstGeom>
        </p:spPr>
      </p:pic>
      <p:pic>
        <p:nvPicPr>
          <p:cNvPr id="101" name="그림 100">
            <a:extLst>
              <a:ext uri="{FF2B5EF4-FFF2-40B4-BE49-F238E27FC236}">
                <a16:creationId xmlns:a16="http://schemas.microsoft.com/office/drawing/2014/main" id="{F495D273-3C27-3C8B-E182-282C2B145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887" y="5733054"/>
            <a:ext cx="756047" cy="621396"/>
          </a:xfrm>
          <a:prstGeom prst="rect">
            <a:avLst/>
          </a:prstGeom>
        </p:spPr>
      </p:pic>
      <p:pic>
        <p:nvPicPr>
          <p:cNvPr id="103" name="그림 102">
            <a:extLst>
              <a:ext uri="{FF2B5EF4-FFF2-40B4-BE49-F238E27FC236}">
                <a16:creationId xmlns:a16="http://schemas.microsoft.com/office/drawing/2014/main" id="{2F9A07E0-7198-BFAD-F1AD-A58001B49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5673" y="5726613"/>
            <a:ext cx="756047" cy="621396"/>
          </a:xfrm>
          <a:prstGeom prst="rect">
            <a:avLst/>
          </a:prstGeom>
        </p:spPr>
      </p:pic>
      <p:pic>
        <p:nvPicPr>
          <p:cNvPr id="105" name="그림 104">
            <a:extLst>
              <a:ext uri="{FF2B5EF4-FFF2-40B4-BE49-F238E27FC236}">
                <a16:creationId xmlns:a16="http://schemas.microsoft.com/office/drawing/2014/main" id="{6AC864DA-6A6C-1496-B95A-07DE12BF7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01" y="4280487"/>
            <a:ext cx="331539" cy="272492"/>
          </a:xfrm>
          <a:prstGeom prst="rect">
            <a:avLst/>
          </a:prstGeom>
        </p:spPr>
      </p:pic>
      <p:pic>
        <p:nvPicPr>
          <p:cNvPr id="107" name="그림 106">
            <a:extLst>
              <a:ext uri="{FF2B5EF4-FFF2-40B4-BE49-F238E27FC236}">
                <a16:creationId xmlns:a16="http://schemas.microsoft.com/office/drawing/2014/main" id="{2F4B15D8-D2C1-85B6-1A6B-C975EAF8F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9699" y="4280487"/>
            <a:ext cx="331539" cy="272492"/>
          </a:xfrm>
          <a:prstGeom prst="rect">
            <a:avLst/>
          </a:prstGeom>
        </p:spPr>
      </p:pic>
      <p:pic>
        <p:nvPicPr>
          <p:cNvPr id="109" name="그림 108">
            <a:extLst>
              <a:ext uri="{FF2B5EF4-FFF2-40B4-BE49-F238E27FC236}">
                <a16:creationId xmlns:a16="http://schemas.microsoft.com/office/drawing/2014/main" id="{7603BF03-E21B-D6F7-496D-4EF8766F2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5346" y="4280487"/>
            <a:ext cx="331539" cy="272492"/>
          </a:xfrm>
          <a:prstGeom prst="rect">
            <a:avLst/>
          </a:prstGeom>
        </p:spPr>
      </p:pic>
      <p:pic>
        <p:nvPicPr>
          <p:cNvPr id="111" name="그림 110">
            <a:extLst>
              <a:ext uri="{FF2B5EF4-FFF2-40B4-BE49-F238E27FC236}">
                <a16:creationId xmlns:a16="http://schemas.microsoft.com/office/drawing/2014/main" id="{4A3EE33D-43F7-8482-A28D-BDA5161DB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6885" y="4280487"/>
            <a:ext cx="331539" cy="272492"/>
          </a:xfrm>
          <a:prstGeom prst="rect">
            <a:avLst/>
          </a:prstGeom>
        </p:spPr>
      </p:pic>
      <p:pic>
        <p:nvPicPr>
          <p:cNvPr id="113" name="그림 112">
            <a:extLst>
              <a:ext uri="{FF2B5EF4-FFF2-40B4-BE49-F238E27FC236}">
                <a16:creationId xmlns:a16="http://schemas.microsoft.com/office/drawing/2014/main" id="{AF549D51-B645-79A4-2A95-0B9159A4E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0983" y="4280487"/>
            <a:ext cx="331539" cy="272492"/>
          </a:xfrm>
          <a:prstGeom prst="rect">
            <a:avLst/>
          </a:prstGeom>
        </p:spPr>
      </p:pic>
      <p:pic>
        <p:nvPicPr>
          <p:cNvPr id="115" name="그림 114">
            <a:extLst>
              <a:ext uri="{FF2B5EF4-FFF2-40B4-BE49-F238E27FC236}">
                <a16:creationId xmlns:a16="http://schemas.microsoft.com/office/drawing/2014/main" id="{6DF771DC-8D3A-28CE-5B34-4E91BA978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6630" y="4280487"/>
            <a:ext cx="331539" cy="272492"/>
          </a:xfrm>
          <a:prstGeom prst="rect">
            <a:avLst/>
          </a:prstGeom>
        </p:spPr>
      </p:pic>
      <p:pic>
        <p:nvPicPr>
          <p:cNvPr id="117" name="그림 116">
            <a:extLst>
              <a:ext uri="{FF2B5EF4-FFF2-40B4-BE49-F238E27FC236}">
                <a16:creationId xmlns:a16="http://schemas.microsoft.com/office/drawing/2014/main" id="{1F20B4A6-352B-0C24-9181-6001AEA20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01" y="4552979"/>
            <a:ext cx="331539" cy="272492"/>
          </a:xfrm>
          <a:prstGeom prst="rect">
            <a:avLst/>
          </a:prstGeom>
        </p:spPr>
      </p:pic>
      <p:pic>
        <p:nvPicPr>
          <p:cNvPr id="119" name="그림 118">
            <a:extLst>
              <a:ext uri="{FF2B5EF4-FFF2-40B4-BE49-F238E27FC236}">
                <a16:creationId xmlns:a16="http://schemas.microsoft.com/office/drawing/2014/main" id="{8A0A5CB4-090F-D043-D587-F7ADA0E6B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9699" y="4552979"/>
            <a:ext cx="331539" cy="272492"/>
          </a:xfrm>
          <a:prstGeom prst="rect">
            <a:avLst/>
          </a:prstGeom>
        </p:spPr>
      </p:pic>
      <p:pic>
        <p:nvPicPr>
          <p:cNvPr id="121" name="그림 120">
            <a:extLst>
              <a:ext uri="{FF2B5EF4-FFF2-40B4-BE49-F238E27FC236}">
                <a16:creationId xmlns:a16="http://schemas.microsoft.com/office/drawing/2014/main" id="{C5040263-3D8F-793D-973C-ABA08DD36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5346" y="4552979"/>
            <a:ext cx="331539" cy="272492"/>
          </a:xfrm>
          <a:prstGeom prst="rect">
            <a:avLst/>
          </a:prstGeom>
        </p:spPr>
      </p:pic>
      <p:pic>
        <p:nvPicPr>
          <p:cNvPr id="123" name="그림 122">
            <a:extLst>
              <a:ext uri="{FF2B5EF4-FFF2-40B4-BE49-F238E27FC236}">
                <a16:creationId xmlns:a16="http://schemas.microsoft.com/office/drawing/2014/main" id="{5FC2DBEC-D4A4-5458-92C6-D8AD2748C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6885" y="4552979"/>
            <a:ext cx="331539" cy="272492"/>
          </a:xfrm>
          <a:prstGeom prst="rect">
            <a:avLst/>
          </a:prstGeom>
        </p:spPr>
      </p:pic>
      <p:pic>
        <p:nvPicPr>
          <p:cNvPr id="125" name="그림 124">
            <a:extLst>
              <a:ext uri="{FF2B5EF4-FFF2-40B4-BE49-F238E27FC236}">
                <a16:creationId xmlns:a16="http://schemas.microsoft.com/office/drawing/2014/main" id="{56A51C0C-08B8-D91C-3CEC-EAF3585CF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0983" y="4552979"/>
            <a:ext cx="331539" cy="272492"/>
          </a:xfrm>
          <a:prstGeom prst="rect">
            <a:avLst/>
          </a:prstGeom>
        </p:spPr>
      </p:pic>
      <p:pic>
        <p:nvPicPr>
          <p:cNvPr id="127" name="그림 126">
            <a:extLst>
              <a:ext uri="{FF2B5EF4-FFF2-40B4-BE49-F238E27FC236}">
                <a16:creationId xmlns:a16="http://schemas.microsoft.com/office/drawing/2014/main" id="{39027DCB-7A82-31E7-1C09-B70B4095B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6630" y="4552979"/>
            <a:ext cx="331539" cy="272492"/>
          </a:xfrm>
          <a:prstGeom prst="rect">
            <a:avLst/>
          </a:prstGeom>
        </p:spPr>
      </p:pic>
      <p:pic>
        <p:nvPicPr>
          <p:cNvPr id="129" name="그림 128">
            <a:extLst>
              <a:ext uri="{FF2B5EF4-FFF2-40B4-BE49-F238E27FC236}">
                <a16:creationId xmlns:a16="http://schemas.microsoft.com/office/drawing/2014/main" id="{DED2E4DE-9FEE-C652-DD1B-D2C85300B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01" y="4825471"/>
            <a:ext cx="331539" cy="272492"/>
          </a:xfrm>
          <a:prstGeom prst="rect">
            <a:avLst/>
          </a:prstGeom>
        </p:spPr>
      </p:pic>
      <p:pic>
        <p:nvPicPr>
          <p:cNvPr id="131" name="그림 130">
            <a:extLst>
              <a:ext uri="{FF2B5EF4-FFF2-40B4-BE49-F238E27FC236}">
                <a16:creationId xmlns:a16="http://schemas.microsoft.com/office/drawing/2014/main" id="{9E7720C0-52B2-0FF7-EC65-961D1DD44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9699" y="4825471"/>
            <a:ext cx="331539" cy="272492"/>
          </a:xfrm>
          <a:prstGeom prst="rect">
            <a:avLst/>
          </a:prstGeom>
        </p:spPr>
      </p:pic>
      <p:pic>
        <p:nvPicPr>
          <p:cNvPr id="133" name="그림 132">
            <a:extLst>
              <a:ext uri="{FF2B5EF4-FFF2-40B4-BE49-F238E27FC236}">
                <a16:creationId xmlns:a16="http://schemas.microsoft.com/office/drawing/2014/main" id="{8CE09EED-6FE5-2065-95EC-3BFDEF94A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5346" y="4825471"/>
            <a:ext cx="331539" cy="272492"/>
          </a:xfrm>
          <a:prstGeom prst="rect">
            <a:avLst/>
          </a:prstGeom>
        </p:spPr>
      </p:pic>
      <p:pic>
        <p:nvPicPr>
          <p:cNvPr id="135" name="그림 134">
            <a:extLst>
              <a:ext uri="{FF2B5EF4-FFF2-40B4-BE49-F238E27FC236}">
                <a16:creationId xmlns:a16="http://schemas.microsoft.com/office/drawing/2014/main" id="{763248FE-EC8E-FBD2-01C8-635815E1E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6885" y="4825471"/>
            <a:ext cx="331539" cy="272492"/>
          </a:xfrm>
          <a:prstGeom prst="rect">
            <a:avLst/>
          </a:prstGeom>
        </p:spPr>
      </p:pic>
      <p:pic>
        <p:nvPicPr>
          <p:cNvPr id="137" name="그림 136">
            <a:extLst>
              <a:ext uri="{FF2B5EF4-FFF2-40B4-BE49-F238E27FC236}">
                <a16:creationId xmlns:a16="http://schemas.microsoft.com/office/drawing/2014/main" id="{D5B0280D-6D33-7BB9-091C-BA94A6C3C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0983" y="4825471"/>
            <a:ext cx="331539" cy="272492"/>
          </a:xfrm>
          <a:prstGeom prst="rect">
            <a:avLst/>
          </a:prstGeom>
        </p:spPr>
      </p:pic>
      <p:pic>
        <p:nvPicPr>
          <p:cNvPr id="139" name="그림 138">
            <a:extLst>
              <a:ext uri="{FF2B5EF4-FFF2-40B4-BE49-F238E27FC236}">
                <a16:creationId xmlns:a16="http://schemas.microsoft.com/office/drawing/2014/main" id="{3B91B54E-8423-4B5C-B984-742306665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6630" y="4825471"/>
            <a:ext cx="331539" cy="272492"/>
          </a:xfrm>
          <a:prstGeom prst="rect">
            <a:avLst/>
          </a:prstGeom>
        </p:spPr>
      </p:pic>
      <p:pic>
        <p:nvPicPr>
          <p:cNvPr id="141" name="그림 140">
            <a:extLst>
              <a:ext uri="{FF2B5EF4-FFF2-40B4-BE49-F238E27FC236}">
                <a16:creationId xmlns:a16="http://schemas.microsoft.com/office/drawing/2014/main" id="{FF802873-E916-C847-1BE6-44E68A3A6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01" y="5097963"/>
            <a:ext cx="331539" cy="272492"/>
          </a:xfrm>
          <a:prstGeom prst="rect">
            <a:avLst/>
          </a:prstGeom>
        </p:spPr>
      </p:pic>
      <p:pic>
        <p:nvPicPr>
          <p:cNvPr id="143" name="그림 142">
            <a:extLst>
              <a:ext uri="{FF2B5EF4-FFF2-40B4-BE49-F238E27FC236}">
                <a16:creationId xmlns:a16="http://schemas.microsoft.com/office/drawing/2014/main" id="{F77ADCB5-FFBE-9BE9-E933-FC3D50100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9699" y="5097963"/>
            <a:ext cx="331539" cy="272492"/>
          </a:xfrm>
          <a:prstGeom prst="rect">
            <a:avLst/>
          </a:prstGeom>
        </p:spPr>
      </p:pic>
      <p:pic>
        <p:nvPicPr>
          <p:cNvPr id="145" name="그림 144">
            <a:extLst>
              <a:ext uri="{FF2B5EF4-FFF2-40B4-BE49-F238E27FC236}">
                <a16:creationId xmlns:a16="http://schemas.microsoft.com/office/drawing/2014/main" id="{A8EA58A2-9D55-2B1B-D6F4-730114E60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5346" y="5097963"/>
            <a:ext cx="331539" cy="272492"/>
          </a:xfrm>
          <a:prstGeom prst="rect">
            <a:avLst/>
          </a:prstGeom>
        </p:spPr>
      </p:pic>
      <p:pic>
        <p:nvPicPr>
          <p:cNvPr id="147" name="그림 146">
            <a:extLst>
              <a:ext uri="{FF2B5EF4-FFF2-40B4-BE49-F238E27FC236}">
                <a16:creationId xmlns:a16="http://schemas.microsoft.com/office/drawing/2014/main" id="{B6FF70A9-4443-33C9-F62D-55767F434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6885" y="5097963"/>
            <a:ext cx="331539" cy="272492"/>
          </a:xfrm>
          <a:prstGeom prst="rect">
            <a:avLst/>
          </a:prstGeom>
        </p:spPr>
      </p:pic>
      <p:pic>
        <p:nvPicPr>
          <p:cNvPr id="149" name="그림 148">
            <a:extLst>
              <a:ext uri="{FF2B5EF4-FFF2-40B4-BE49-F238E27FC236}">
                <a16:creationId xmlns:a16="http://schemas.microsoft.com/office/drawing/2014/main" id="{9B16C2BB-46DC-4324-B0B1-4E371D9ED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0983" y="5097963"/>
            <a:ext cx="331539" cy="272492"/>
          </a:xfrm>
          <a:prstGeom prst="rect">
            <a:avLst/>
          </a:prstGeom>
        </p:spPr>
      </p:pic>
      <p:pic>
        <p:nvPicPr>
          <p:cNvPr id="151" name="그림 150">
            <a:extLst>
              <a:ext uri="{FF2B5EF4-FFF2-40B4-BE49-F238E27FC236}">
                <a16:creationId xmlns:a16="http://schemas.microsoft.com/office/drawing/2014/main" id="{7F814AB5-7229-BC1F-EAE6-6B604623E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6630" y="5097963"/>
            <a:ext cx="331539" cy="272492"/>
          </a:xfrm>
          <a:prstGeom prst="rect">
            <a:avLst/>
          </a:prstGeom>
        </p:spPr>
      </p:pic>
      <p:pic>
        <p:nvPicPr>
          <p:cNvPr id="153" name="그림 152">
            <a:extLst>
              <a:ext uri="{FF2B5EF4-FFF2-40B4-BE49-F238E27FC236}">
                <a16:creationId xmlns:a16="http://schemas.microsoft.com/office/drawing/2014/main" id="{8FAD1B11-87C9-3F2F-B60A-E329089AF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062" y="5408652"/>
            <a:ext cx="331539" cy="272492"/>
          </a:xfrm>
          <a:prstGeom prst="rect">
            <a:avLst/>
          </a:prstGeom>
        </p:spPr>
      </p:pic>
      <p:pic>
        <p:nvPicPr>
          <p:cNvPr id="155" name="그림 154">
            <a:extLst>
              <a:ext uri="{FF2B5EF4-FFF2-40B4-BE49-F238E27FC236}">
                <a16:creationId xmlns:a16="http://schemas.microsoft.com/office/drawing/2014/main" id="{B0C3AB26-B6D8-1877-CFFE-E40B4A9D4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160" y="5408652"/>
            <a:ext cx="331539" cy="272492"/>
          </a:xfrm>
          <a:prstGeom prst="rect">
            <a:avLst/>
          </a:prstGeom>
        </p:spPr>
      </p:pic>
      <p:pic>
        <p:nvPicPr>
          <p:cNvPr id="157" name="그림 156">
            <a:extLst>
              <a:ext uri="{FF2B5EF4-FFF2-40B4-BE49-F238E27FC236}">
                <a16:creationId xmlns:a16="http://schemas.microsoft.com/office/drawing/2014/main" id="{677D241F-126E-5B7C-2A9E-A882DEE42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807" y="5408652"/>
            <a:ext cx="331539" cy="272492"/>
          </a:xfrm>
          <a:prstGeom prst="rect">
            <a:avLst/>
          </a:prstGeom>
        </p:spPr>
      </p:pic>
      <p:pic>
        <p:nvPicPr>
          <p:cNvPr id="159" name="그림 158">
            <a:extLst>
              <a:ext uri="{FF2B5EF4-FFF2-40B4-BE49-F238E27FC236}">
                <a16:creationId xmlns:a16="http://schemas.microsoft.com/office/drawing/2014/main" id="{EA7153B4-FE4F-DAF0-1582-C734C9A8A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3346" y="5408652"/>
            <a:ext cx="331539" cy="272492"/>
          </a:xfrm>
          <a:prstGeom prst="rect">
            <a:avLst/>
          </a:prstGeom>
        </p:spPr>
      </p:pic>
      <p:pic>
        <p:nvPicPr>
          <p:cNvPr id="161" name="그림 160">
            <a:extLst>
              <a:ext uri="{FF2B5EF4-FFF2-40B4-BE49-F238E27FC236}">
                <a16:creationId xmlns:a16="http://schemas.microsoft.com/office/drawing/2014/main" id="{906021DA-DB22-7476-A419-2C521BEAF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7444" y="5408652"/>
            <a:ext cx="331539" cy="272492"/>
          </a:xfrm>
          <a:prstGeom prst="rect">
            <a:avLst/>
          </a:prstGeom>
        </p:spPr>
      </p:pic>
      <p:pic>
        <p:nvPicPr>
          <p:cNvPr id="163" name="그림 162">
            <a:extLst>
              <a:ext uri="{FF2B5EF4-FFF2-40B4-BE49-F238E27FC236}">
                <a16:creationId xmlns:a16="http://schemas.microsoft.com/office/drawing/2014/main" id="{0F1A41D8-F281-D995-1961-08A57CAF2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091" y="5408652"/>
            <a:ext cx="331539" cy="272492"/>
          </a:xfrm>
          <a:prstGeom prst="rect">
            <a:avLst/>
          </a:prstGeom>
        </p:spPr>
      </p:pic>
      <p:pic>
        <p:nvPicPr>
          <p:cNvPr id="165" name="그림 164">
            <a:extLst>
              <a:ext uri="{FF2B5EF4-FFF2-40B4-BE49-F238E27FC236}">
                <a16:creationId xmlns:a16="http://schemas.microsoft.com/office/drawing/2014/main" id="{2907EB2C-854F-2F40-BEAC-FC707E064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062" y="5681144"/>
            <a:ext cx="331539" cy="272492"/>
          </a:xfrm>
          <a:prstGeom prst="rect">
            <a:avLst/>
          </a:prstGeom>
        </p:spPr>
      </p:pic>
      <p:pic>
        <p:nvPicPr>
          <p:cNvPr id="167" name="그림 166">
            <a:extLst>
              <a:ext uri="{FF2B5EF4-FFF2-40B4-BE49-F238E27FC236}">
                <a16:creationId xmlns:a16="http://schemas.microsoft.com/office/drawing/2014/main" id="{B0E43C80-FBFB-64EA-C224-F032CA980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160" y="5681144"/>
            <a:ext cx="331539" cy="272492"/>
          </a:xfrm>
          <a:prstGeom prst="rect">
            <a:avLst/>
          </a:prstGeom>
        </p:spPr>
      </p:pic>
      <p:pic>
        <p:nvPicPr>
          <p:cNvPr id="169" name="그림 168">
            <a:extLst>
              <a:ext uri="{FF2B5EF4-FFF2-40B4-BE49-F238E27FC236}">
                <a16:creationId xmlns:a16="http://schemas.microsoft.com/office/drawing/2014/main" id="{13C9ECF4-1559-D0E7-064B-B5DD7106B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807" y="5681144"/>
            <a:ext cx="331539" cy="272492"/>
          </a:xfrm>
          <a:prstGeom prst="rect">
            <a:avLst/>
          </a:prstGeom>
        </p:spPr>
      </p:pic>
      <p:pic>
        <p:nvPicPr>
          <p:cNvPr id="171" name="그림 170">
            <a:extLst>
              <a:ext uri="{FF2B5EF4-FFF2-40B4-BE49-F238E27FC236}">
                <a16:creationId xmlns:a16="http://schemas.microsoft.com/office/drawing/2014/main" id="{25A6D10B-7C56-E4B1-0B5A-673117112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3346" y="5681144"/>
            <a:ext cx="331539" cy="272492"/>
          </a:xfrm>
          <a:prstGeom prst="rect">
            <a:avLst/>
          </a:prstGeom>
        </p:spPr>
      </p:pic>
      <p:pic>
        <p:nvPicPr>
          <p:cNvPr id="173" name="그림 172">
            <a:extLst>
              <a:ext uri="{FF2B5EF4-FFF2-40B4-BE49-F238E27FC236}">
                <a16:creationId xmlns:a16="http://schemas.microsoft.com/office/drawing/2014/main" id="{58A48D13-77E2-6E47-83F1-B17D44A9D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7444" y="5681144"/>
            <a:ext cx="331539" cy="272492"/>
          </a:xfrm>
          <a:prstGeom prst="rect">
            <a:avLst/>
          </a:prstGeom>
        </p:spPr>
      </p:pic>
      <p:pic>
        <p:nvPicPr>
          <p:cNvPr id="175" name="그림 174">
            <a:extLst>
              <a:ext uri="{FF2B5EF4-FFF2-40B4-BE49-F238E27FC236}">
                <a16:creationId xmlns:a16="http://schemas.microsoft.com/office/drawing/2014/main" id="{8FEF3A26-D38A-20B2-D08D-A25AA06E5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091" y="5681144"/>
            <a:ext cx="331539" cy="272492"/>
          </a:xfrm>
          <a:prstGeom prst="rect">
            <a:avLst/>
          </a:prstGeom>
        </p:spPr>
      </p:pic>
      <p:pic>
        <p:nvPicPr>
          <p:cNvPr id="177" name="그림 176">
            <a:extLst>
              <a:ext uri="{FF2B5EF4-FFF2-40B4-BE49-F238E27FC236}">
                <a16:creationId xmlns:a16="http://schemas.microsoft.com/office/drawing/2014/main" id="{35D52F79-AAF7-E7FB-BB6C-9EBDBB5B8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062" y="5953636"/>
            <a:ext cx="331539" cy="272492"/>
          </a:xfrm>
          <a:prstGeom prst="rect">
            <a:avLst/>
          </a:prstGeom>
        </p:spPr>
      </p:pic>
      <p:pic>
        <p:nvPicPr>
          <p:cNvPr id="179" name="그림 178">
            <a:extLst>
              <a:ext uri="{FF2B5EF4-FFF2-40B4-BE49-F238E27FC236}">
                <a16:creationId xmlns:a16="http://schemas.microsoft.com/office/drawing/2014/main" id="{332CADBF-339C-A286-F5AF-F58BFF48E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160" y="5953636"/>
            <a:ext cx="331539" cy="272492"/>
          </a:xfrm>
          <a:prstGeom prst="rect">
            <a:avLst/>
          </a:prstGeom>
        </p:spPr>
      </p:pic>
      <p:pic>
        <p:nvPicPr>
          <p:cNvPr id="181" name="그림 180">
            <a:extLst>
              <a:ext uri="{FF2B5EF4-FFF2-40B4-BE49-F238E27FC236}">
                <a16:creationId xmlns:a16="http://schemas.microsoft.com/office/drawing/2014/main" id="{C643B741-86E5-41B7-844D-9C0A5E4E3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807" y="5953636"/>
            <a:ext cx="331539" cy="272492"/>
          </a:xfrm>
          <a:prstGeom prst="rect">
            <a:avLst/>
          </a:prstGeom>
        </p:spPr>
      </p:pic>
      <p:pic>
        <p:nvPicPr>
          <p:cNvPr id="183" name="그림 182">
            <a:extLst>
              <a:ext uri="{FF2B5EF4-FFF2-40B4-BE49-F238E27FC236}">
                <a16:creationId xmlns:a16="http://schemas.microsoft.com/office/drawing/2014/main" id="{3383583C-D2D0-5B72-876A-B6C9A4B0D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3346" y="5953636"/>
            <a:ext cx="331539" cy="272492"/>
          </a:xfrm>
          <a:prstGeom prst="rect">
            <a:avLst/>
          </a:prstGeom>
        </p:spPr>
      </p:pic>
      <p:pic>
        <p:nvPicPr>
          <p:cNvPr id="185" name="그림 184">
            <a:extLst>
              <a:ext uri="{FF2B5EF4-FFF2-40B4-BE49-F238E27FC236}">
                <a16:creationId xmlns:a16="http://schemas.microsoft.com/office/drawing/2014/main" id="{0D4B95A3-5699-7B5E-B350-7DC0AD8FC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7444" y="5953636"/>
            <a:ext cx="331539" cy="272492"/>
          </a:xfrm>
          <a:prstGeom prst="rect">
            <a:avLst/>
          </a:prstGeom>
        </p:spPr>
      </p:pic>
      <p:pic>
        <p:nvPicPr>
          <p:cNvPr id="187" name="그림 186">
            <a:extLst>
              <a:ext uri="{FF2B5EF4-FFF2-40B4-BE49-F238E27FC236}">
                <a16:creationId xmlns:a16="http://schemas.microsoft.com/office/drawing/2014/main" id="{20975C35-8FF2-90B8-6D24-E22BA0EBE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091" y="5953636"/>
            <a:ext cx="331539" cy="272492"/>
          </a:xfrm>
          <a:prstGeom prst="rect">
            <a:avLst/>
          </a:prstGeom>
        </p:spPr>
      </p:pic>
      <p:pic>
        <p:nvPicPr>
          <p:cNvPr id="189" name="그림 188">
            <a:extLst>
              <a:ext uri="{FF2B5EF4-FFF2-40B4-BE49-F238E27FC236}">
                <a16:creationId xmlns:a16="http://schemas.microsoft.com/office/drawing/2014/main" id="{863D56AA-473F-15F2-0B0A-FF3667A0D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062" y="6226128"/>
            <a:ext cx="331539" cy="272492"/>
          </a:xfrm>
          <a:prstGeom prst="rect">
            <a:avLst/>
          </a:prstGeom>
        </p:spPr>
      </p:pic>
      <p:pic>
        <p:nvPicPr>
          <p:cNvPr id="191" name="그림 190">
            <a:extLst>
              <a:ext uri="{FF2B5EF4-FFF2-40B4-BE49-F238E27FC236}">
                <a16:creationId xmlns:a16="http://schemas.microsoft.com/office/drawing/2014/main" id="{0C36D163-9A4F-1E42-AE7B-2330101BB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160" y="6226128"/>
            <a:ext cx="331539" cy="272492"/>
          </a:xfrm>
          <a:prstGeom prst="rect">
            <a:avLst/>
          </a:prstGeom>
        </p:spPr>
      </p:pic>
      <p:pic>
        <p:nvPicPr>
          <p:cNvPr id="193" name="그림 192">
            <a:extLst>
              <a:ext uri="{FF2B5EF4-FFF2-40B4-BE49-F238E27FC236}">
                <a16:creationId xmlns:a16="http://schemas.microsoft.com/office/drawing/2014/main" id="{45BDB755-D9CB-0893-5D10-96E608BB5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807" y="6226128"/>
            <a:ext cx="331539" cy="272492"/>
          </a:xfrm>
          <a:prstGeom prst="rect">
            <a:avLst/>
          </a:prstGeom>
        </p:spPr>
      </p:pic>
      <p:pic>
        <p:nvPicPr>
          <p:cNvPr id="195" name="그림 194">
            <a:extLst>
              <a:ext uri="{FF2B5EF4-FFF2-40B4-BE49-F238E27FC236}">
                <a16:creationId xmlns:a16="http://schemas.microsoft.com/office/drawing/2014/main" id="{8B8B8622-A76E-AD70-9112-A5EFB72CD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3346" y="6226128"/>
            <a:ext cx="331539" cy="272492"/>
          </a:xfrm>
          <a:prstGeom prst="rect">
            <a:avLst/>
          </a:prstGeom>
        </p:spPr>
      </p:pic>
      <p:pic>
        <p:nvPicPr>
          <p:cNvPr id="197" name="그림 196">
            <a:extLst>
              <a:ext uri="{FF2B5EF4-FFF2-40B4-BE49-F238E27FC236}">
                <a16:creationId xmlns:a16="http://schemas.microsoft.com/office/drawing/2014/main" id="{6C369B8F-20C8-D2E1-5D6E-419620245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7444" y="6226128"/>
            <a:ext cx="331539" cy="272492"/>
          </a:xfrm>
          <a:prstGeom prst="rect">
            <a:avLst/>
          </a:prstGeom>
        </p:spPr>
      </p:pic>
      <p:pic>
        <p:nvPicPr>
          <p:cNvPr id="199" name="그림 198">
            <a:extLst>
              <a:ext uri="{FF2B5EF4-FFF2-40B4-BE49-F238E27FC236}">
                <a16:creationId xmlns:a16="http://schemas.microsoft.com/office/drawing/2014/main" id="{62DD4225-A693-EDA9-42E8-6DB9BC825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091" y="6226128"/>
            <a:ext cx="331539" cy="272492"/>
          </a:xfrm>
          <a:prstGeom prst="rect">
            <a:avLst/>
          </a:prstGeom>
        </p:spPr>
      </p:pic>
      <p:sp>
        <p:nvSpPr>
          <p:cNvPr id="201" name="타원 200">
            <a:extLst>
              <a:ext uri="{FF2B5EF4-FFF2-40B4-BE49-F238E27FC236}">
                <a16:creationId xmlns:a16="http://schemas.microsoft.com/office/drawing/2014/main" id="{FB3A1EEF-DA7E-3851-3F05-D3E8E68D2B58}"/>
              </a:ext>
            </a:extLst>
          </p:cNvPr>
          <p:cNvSpPr/>
          <p:nvPr/>
        </p:nvSpPr>
        <p:spPr>
          <a:xfrm>
            <a:off x="1073873" y="5097963"/>
            <a:ext cx="900000" cy="90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3572F705-87CC-252D-3AF2-C8D940C98091}"/>
              </a:ext>
            </a:extLst>
          </p:cNvPr>
          <p:cNvSpPr txBox="1"/>
          <p:nvPr/>
        </p:nvSpPr>
        <p:spPr>
          <a:xfrm>
            <a:off x="1049321" y="5378247"/>
            <a:ext cx="971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evCloud</a:t>
            </a:r>
            <a:r>
              <a:rPr lang="en-US" altLang="ko-KR" sz="10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2.0</a:t>
            </a:r>
            <a:br>
              <a:rPr lang="en-US" altLang="ko-KR" sz="10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</a:br>
            <a:r>
              <a:rPr lang="en-US" altLang="ko-KR" sz="10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</a:t>
            </a:r>
            <a:r>
              <a:rPr lang="ko-KR" altLang="en-US" sz="10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무료</a:t>
            </a:r>
            <a:r>
              <a:rPr lang="en-US" altLang="ko-KR" sz="10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</a:t>
            </a:r>
            <a:endParaRPr lang="ko-KR" altLang="en-US" sz="1000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id="{7740ED18-CEB0-E797-4827-BE12C3188903}"/>
              </a:ext>
            </a:extLst>
          </p:cNvPr>
          <p:cNvCxnSpPr/>
          <p:nvPr/>
        </p:nvCxnSpPr>
        <p:spPr>
          <a:xfrm>
            <a:off x="11548797" y="1542538"/>
            <a:ext cx="0" cy="2340000"/>
          </a:xfrm>
          <a:prstGeom prst="line">
            <a:avLst/>
          </a:prstGeom>
          <a:ln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그래픽 1">
            <a:extLst>
              <a:ext uri="{FF2B5EF4-FFF2-40B4-BE49-F238E27FC236}">
                <a16:creationId xmlns:a16="http://schemas.microsoft.com/office/drawing/2014/main" id="{997187F0-3DF1-56F4-8170-65E9B4C2A03D}"/>
              </a:ext>
            </a:extLst>
          </p:cNvPr>
          <p:cNvSpPr/>
          <p:nvPr/>
        </p:nvSpPr>
        <p:spPr>
          <a:xfrm rot="5400000">
            <a:off x="1721399" y="5137267"/>
            <a:ext cx="1601080" cy="704997"/>
          </a:xfrm>
          <a:custGeom>
            <a:avLst/>
            <a:gdLst>
              <a:gd name="connsiteX0" fmla="*/ 3429000 w 3429000"/>
              <a:gd name="connsiteY0" fmla="*/ 771525 h 771525"/>
              <a:gd name="connsiteX1" fmla="*/ 2057400 w 3429000"/>
              <a:gd name="connsiteY1" fmla="*/ 257175 h 771525"/>
              <a:gd name="connsiteX2" fmla="*/ 2400300 w 3429000"/>
              <a:gd name="connsiteY2" fmla="*/ 257175 h 771525"/>
              <a:gd name="connsiteX3" fmla="*/ 1714500 w 3429000"/>
              <a:gd name="connsiteY3" fmla="*/ 0 h 771525"/>
              <a:gd name="connsiteX4" fmla="*/ 1028700 w 3429000"/>
              <a:gd name="connsiteY4" fmla="*/ 257175 h 771525"/>
              <a:gd name="connsiteX5" fmla="*/ 1371600 w 3429000"/>
              <a:gd name="connsiteY5" fmla="*/ 257175 h 771525"/>
              <a:gd name="connsiteX6" fmla="*/ 0 w 3429000"/>
              <a:gd name="connsiteY6" fmla="*/ 771525 h 77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29000" h="771525">
                <a:moveTo>
                  <a:pt x="3429000" y="771525"/>
                </a:moveTo>
                <a:cubicBezTo>
                  <a:pt x="2314575" y="600075"/>
                  <a:pt x="2057400" y="257175"/>
                  <a:pt x="2057400" y="257175"/>
                </a:cubicBezTo>
                <a:lnTo>
                  <a:pt x="2400300" y="257175"/>
                </a:lnTo>
                <a:lnTo>
                  <a:pt x="1714500" y="0"/>
                </a:lnTo>
                <a:lnTo>
                  <a:pt x="1028700" y="257175"/>
                </a:lnTo>
                <a:lnTo>
                  <a:pt x="1371600" y="257175"/>
                </a:lnTo>
                <a:cubicBezTo>
                  <a:pt x="1371600" y="257175"/>
                  <a:pt x="1114425" y="600075"/>
                  <a:pt x="0" y="771525"/>
                </a:cubicBezTo>
              </a:path>
            </a:pathLst>
          </a:custGeom>
          <a:gradFill>
            <a:gsLst>
              <a:gs pos="89381">
                <a:srgbClr val="055BB5"/>
              </a:gs>
              <a:gs pos="0">
                <a:schemeClr val="bg1">
                  <a:alpha val="0"/>
                </a:schemeClr>
              </a:gs>
            </a:gsLst>
            <a:lin ang="162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08" name="그래픽 1">
            <a:extLst>
              <a:ext uri="{FF2B5EF4-FFF2-40B4-BE49-F238E27FC236}">
                <a16:creationId xmlns:a16="http://schemas.microsoft.com/office/drawing/2014/main" id="{8FDAC0A6-64FF-7FBE-FE9D-381DEE9986D8}"/>
              </a:ext>
            </a:extLst>
          </p:cNvPr>
          <p:cNvSpPr/>
          <p:nvPr/>
        </p:nvSpPr>
        <p:spPr>
          <a:xfrm rot="5400000">
            <a:off x="4717200" y="5137268"/>
            <a:ext cx="1601080" cy="704997"/>
          </a:xfrm>
          <a:custGeom>
            <a:avLst/>
            <a:gdLst>
              <a:gd name="connsiteX0" fmla="*/ 3429000 w 3429000"/>
              <a:gd name="connsiteY0" fmla="*/ 771525 h 771525"/>
              <a:gd name="connsiteX1" fmla="*/ 2057400 w 3429000"/>
              <a:gd name="connsiteY1" fmla="*/ 257175 h 771525"/>
              <a:gd name="connsiteX2" fmla="*/ 2400300 w 3429000"/>
              <a:gd name="connsiteY2" fmla="*/ 257175 h 771525"/>
              <a:gd name="connsiteX3" fmla="*/ 1714500 w 3429000"/>
              <a:gd name="connsiteY3" fmla="*/ 0 h 771525"/>
              <a:gd name="connsiteX4" fmla="*/ 1028700 w 3429000"/>
              <a:gd name="connsiteY4" fmla="*/ 257175 h 771525"/>
              <a:gd name="connsiteX5" fmla="*/ 1371600 w 3429000"/>
              <a:gd name="connsiteY5" fmla="*/ 257175 h 771525"/>
              <a:gd name="connsiteX6" fmla="*/ 0 w 3429000"/>
              <a:gd name="connsiteY6" fmla="*/ 771525 h 77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29000" h="771525">
                <a:moveTo>
                  <a:pt x="3429000" y="771525"/>
                </a:moveTo>
                <a:cubicBezTo>
                  <a:pt x="2314575" y="600075"/>
                  <a:pt x="2057400" y="257175"/>
                  <a:pt x="2057400" y="257175"/>
                </a:cubicBezTo>
                <a:lnTo>
                  <a:pt x="2400300" y="257175"/>
                </a:lnTo>
                <a:lnTo>
                  <a:pt x="1714500" y="0"/>
                </a:lnTo>
                <a:lnTo>
                  <a:pt x="1028700" y="257175"/>
                </a:lnTo>
                <a:lnTo>
                  <a:pt x="1371600" y="257175"/>
                </a:lnTo>
                <a:cubicBezTo>
                  <a:pt x="1371600" y="257175"/>
                  <a:pt x="1114425" y="600075"/>
                  <a:pt x="0" y="771525"/>
                </a:cubicBezTo>
              </a:path>
            </a:pathLst>
          </a:custGeom>
          <a:gradFill>
            <a:gsLst>
              <a:gs pos="89381">
                <a:srgbClr val="055BB5"/>
              </a:gs>
              <a:gs pos="0">
                <a:schemeClr val="bg1">
                  <a:alpha val="0"/>
                </a:schemeClr>
              </a:gs>
            </a:gsLst>
            <a:lin ang="162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0" name="그래픽 1">
            <a:extLst>
              <a:ext uri="{FF2B5EF4-FFF2-40B4-BE49-F238E27FC236}">
                <a16:creationId xmlns:a16="http://schemas.microsoft.com/office/drawing/2014/main" id="{4F8325E9-F0BB-8ECA-B300-A29BE387FA92}"/>
              </a:ext>
            </a:extLst>
          </p:cNvPr>
          <p:cNvSpPr/>
          <p:nvPr/>
        </p:nvSpPr>
        <p:spPr>
          <a:xfrm rot="5400000">
            <a:off x="8070918" y="5153365"/>
            <a:ext cx="1601080" cy="704997"/>
          </a:xfrm>
          <a:custGeom>
            <a:avLst/>
            <a:gdLst>
              <a:gd name="connsiteX0" fmla="*/ 3429000 w 3429000"/>
              <a:gd name="connsiteY0" fmla="*/ 771525 h 771525"/>
              <a:gd name="connsiteX1" fmla="*/ 2057400 w 3429000"/>
              <a:gd name="connsiteY1" fmla="*/ 257175 h 771525"/>
              <a:gd name="connsiteX2" fmla="*/ 2400300 w 3429000"/>
              <a:gd name="connsiteY2" fmla="*/ 257175 h 771525"/>
              <a:gd name="connsiteX3" fmla="*/ 1714500 w 3429000"/>
              <a:gd name="connsiteY3" fmla="*/ 0 h 771525"/>
              <a:gd name="connsiteX4" fmla="*/ 1028700 w 3429000"/>
              <a:gd name="connsiteY4" fmla="*/ 257175 h 771525"/>
              <a:gd name="connsiteX5" fmla="*/ 1371600 w 3429000"/>
              <a:gd name="connsiteY5" fmla="*/ 257175 h 771525"/>
              <a:gd name="connsiteX6" fmla="*/ 0 w 3429000"/>
              <a:gd name="connsiteY6" fmla="*/ 771525 h 77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29000" h="771525">
                <a:moveTo>
                  <a:pt x="3429000" y="771525"/>
                </a:moveTo>
                <a:cubicBezTo>
                  <a:pt x="2314575" y="600075"/>
                  <a:pt x="2057400" y="257175"/>
                  <a:pt x="2057400" y="257175"/>
                </a:cubicBezTo>
                <a:lnTo>
                  <a:pt x="2400300" y="257175"/>
                </a:lnTo>
                <a:lnTo>
                  <a:pt x="1714500" y="0"/>
                </a:lnTo>
                <a:lnTo>
                  <a:pt x="1028700" y="257175"/>
                </a:lnTo>
                <a:lnTo>
                  <a:pt x="1371600" y="257175"/>
                </a:lnTo>
                <a:cubicBezTo>
                  <a:pt x="1371600" y="257175"/>
                  <a:pt x="1114425" y="600075"/>
                  <a:pt x="0" y="771525"/>
                </a:cubicBezTo>
              </a:path>
            </a:pathLst>
          </a:custGeom>
          <a:gradFill>
            <a:gsLst>
              <a:gs pos="89381">
                <a:srgbClr val="055BB5"/>
              </a:gs>
              <a:gs pos="0">
                <a:schemeClr val="bg1">
                  <a:alpha val="0"/>
                </a:schemeClr>
              </a:gs>
            </a:gsLst>
            <a:lin ang="162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2101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09E46-C73F-3A12-1C81-2791C4A67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2">
            <a:extLst>
              <a:ext uri="{FF2B5EF4-FFF2-40B4-BE49-F238E27FC236}">
                <a16:creationId xmlns:a16="http://schemas.microsoft.com/office/drawing/2014/main" id="{6C8657E7-C48D-A7FD-820D-FC353EA0DF5D}"/>
              </a:ext>
            </a:extLst>
          </p:cNvPr>
          <p:cNvSpPr txBox="1">
            <a:spLocks/>
          </p:cNvSpPr>
          <p:nvPr/>
        </p:nvSpPr>
        <p:spPr>
          <a:xfrm>
            <a:off x="611232" y="688788"/>
            <a:ext cx="8987995" cy="332399"/>
          </a:xfrm>
          <a:prstGeom prst="rect">
            <a:avLst/>
          </a:prstGeom>
        </p:spPr>
        <p:txBody>
          <a:bodyPr lIns="0" tIns="0" rIns="0" bIns="0"/>
          <a:lstStyle>
            <a:lvl1pPr algn="l" defTabSz="103674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98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gradFill>
                  <a:gsLst>
                    <a:gs pos="57522">
                      <a:schemeClr val="bg1"/>
                    </a:gs>
                    <a:gs pos="51000">
                      <a:schemeClr val="bg1"/>
                    </a:gs>
                  </a:gsLst>
                  <a:lin ang="5400000" scaled="1"/>
                </a:gra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핵심 전략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7E0022-644A-0BD7-BF0F-7C9AA55606FA}"/>
              </a:ext>
            </a:extLst>
          </p:cNvPr>
          <p:cNvSpPr/>
          <p:nvPr/>
        </p:nvSpPr>
        <p:spPr>
          <a:xfrm>
            <a:off x="159858" y="3835030"/>
            <a:ext cx="2592000" cy="18298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高 서비스 요금 부정 여론 형성</a:t>
            </a:r>
            <a:endParaRPr lang="en-US" altLang="ko-KR" sz="10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운영에 대한 지식</a:t>
            </a:r>
            <a: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경험</a:t>
            </a:r>
            <a: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리소스</a:t>
            </a:r>
            <a: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인력</a:t>
            </a:r>
            <a: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</a:t>
            </a: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부족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6F79BF3-DB33-DDF6-DC2C-E65B72933157}"/>
              </a:ext>
            </a:extLst>
          </p:cNvPr>
          <p:cNvSpPr/>
          <p:nvPr/>
        </p:nvSpPr>
        <p:spPr>
          <a:xfrm>
            <a:off x="168823" y="1824644"/>
            <a:ext cx="2592000" cy="18805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고객 </a:t>
            </a:r>
            <a: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Needs</a:t>
            </a: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에 맞는 요금제 설정</a:t>
            </a:r>
            <a:endParaRPr lang="en-US" altLang="ko-KR" sz="10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운영의 리소스 없음</a:t>
            </a:r>
            <a:endParaRPr lang="en-US" altLang="ko-KR" sz="10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상황에 따라 수익 창출 가능</a:t>
            </a:r>
            <a:endParaRPr lang="en-US" altLang="ko-KR" sz="10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10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8E10BB2-0B9B-1FF4-A092-357F8855B9A5}"/>
              </a:ext>
            </a:extLst>
          </p:cNvPr>
          <p:cNvSpPr/>
          <p:nvPr/>
        </p:nvSpPr>
        <p:spPr>
          <a:xfrm>
            <a:off x="2877849" y="1824644"/>
            <a:ext cx="2592000" cy="18805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소규모 영업 채널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2E30A72-E8CA-62B9-38AF-98013BAB60B1}"/>
              </a:ext>
            </a:extLst>
          </p:cNvPr>
          <p:cNvSpPr/>
          <p:nvPr/>
        </p:nvSpPr>
        <p:spPr>
          <a:xfrm>
            <a:off x="2874633" y="3835031"/>
            <a:ext cx="2592000" cy="18298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타 </a:t>
            </a:r>
            <a: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CPO </a:t>
            </a: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적극적인 영업</a:t>
            </a:r>
            <a:endParaRPr lang="en-US" altLang="ko-KR" sz="10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영업 대상 고객 부족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A0BD590-06C0-F644-ABAD-D3EA53011729}"/>
              </a:ext>
            </a:extLst>
          </p:cNvPr>
          <p:cNvSpPr/>
          <p:nvPr/>
        </p:nvSpPr>
        <p:spPr>
          <a:xfrm rot="10800000" flipV="1">
            <a:off x="1672988" y="3835037"/>
            <a:ext cx="1080000" cy="360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기회 </a:t>
            </a:r>
            <a:r>
              <a:rPr lang="en-US" altLang="ko-KR" sz="1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(O)</a:t>
            </a:r>
            <a:endParaRPr lang="ko-KR" altLang="en-US" sz="1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338233F-6B40-B1E2-0444-496CB979C3B6}"/>
              </a:ext>
            </a:extLst>
          </p:cNvPr>
          <p:cNvSpPr/>
          <p:nvPr/>
        </p:nvSpPr>
        <p:spPr>
          <a:xfrm rot="10800000" flipV="1">
            <a:off x="1680823" y="3345211"/>
            <a:ext cx="1080000" cy="3600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강점 </a:t>
            </a:r>
            <a:r>
              <a:rPr lang="en-US" altLang="ko-KR" sz="1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(S)</a:t>
            </a:r>
            <a:endParaRPr lang="ko-KR" altLang="en-US" sz="1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19DDB51-7FC7-CE1C-6794-E5884F29A457}"/>
              </a:ext>
            </a:extLst>
          </p:cNvPr>
          <p:cNvSpPr/>
          <p:nvPr/>
        </p:nvSpPr>
        <p:spPr>
          <a:xfrm rot="10800000" flipV="1">
            <a:off x="2874633" y="3345211"/>
            <a:ext cx="1080000" cy="3600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약점 </a:t>
            </a:r>
            <a:r>
              <a:rPr lang="en-US" altLang="ko-KR" sz="1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(W)</a:t>
            </a:r>
            <a:endParaRPr lang="ko-KR" altLang="en-US" sz="1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769A498-A0B8-5791-C47E-FB91E3744698}"/>
              </a:ext>
            </a:extLst>
          </p:cNvPr>
          <p:cNvSpPr/>
          <p:nvPr/>
        </p:nvSpPr>
        <p:spPr>
          <a:xfrm rot="10800000" flipV="1">
            <a:off x="2878467" y="3835036"/>
            <a:ext cx="1080000" cy="360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위기 </a:t>
            </a:r>
            <a:r>
              <a:rPr lang="en-US" altLang="ko-KR" sz="1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(T)</a:t>
            </a:r>
            <a:endParaRPr lang="ko-KR" altLang="en-US" sz="1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61C6566-E024-51FA-0393-CF0C00023691}"/>
              </a:ext>
            </a:extLst>
          </p:cNvPr>
          <p:cNvSpPr/>
          <p:nvPr/>
        </p:nvSpPr>
        <p:spPr>
          <a:xfrm rot="10800000" flipV="1">
            <a:off x="6490451" y="3091371"/>
            <a:ext cx="432000" cy="1080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기</a:t>
            </a:r>
            <a:endParaRPr lang="en-US" altLang="ko-KR" sz="1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sz="1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회 </a:t>
            </a:r>
            <a:r>
              <a:rPr lang="en-US" altLang="ko-KR" sz="1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(O)</a:t>
            </a:r>
            <a:endParaRPr lang="ko-KR" altLang="en-US" sz="1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EA5E3D5-AF86-999D-4740-F6E287E5705A}"/>
              </a:ext>
            </a:extLst>
          </p:cNvPr>
          <p:cNvSpPr/>
          <p:nvPr/>
        </p:nvSpPr>
        <p:spPr>
          <a:xfrm rot="10800000" flipV="1">
            <a:off x="7704927" y="2455544"/>
            <a:ext cx="1080000" cy="4320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강점 </a:t>
            </a:r>
            <a:r>
              <a:rPr lang="en-US" altLang="ko-KR" sz="1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(S)</a:t>
            </a:r>
            <a:endParaRPr lang="ko-KR" altLang="en-US" sz="1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D48E7DB-FFB4-48EF-1E2D-28C767B818A7}"/>
              </a:ext>
            </a:extLst>
          </p:cNvPr>
          <p:cNvSpPr/>
          <p:nvPr/>
        </p:nvSpPr>
        <p:spPr>
          <a:xfrm rot="10800000" flipV="1">
            <a:off x="10168527" y="2455544"/>
            <a:ext cx="1080000" cy="4320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약점 </a:t>
            </a:r>
            <a:r>
              <a:rPr lang="en-US" altLang="ko-KR" sz="1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(W)</a:t>
            </a:r>
            <a:endParaRPr lang="ko-KR" altLang="en-US" sz="1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62F27F7-6EA6-D5D3-ADEA-506B093007BA}"/>
              </a:ext>
            </a:extLst>
          </p:cNvPr>
          <p:cNvSpPr/>
          <p:nvPr/>
        </p:nvSpPr>
        <p:spPr>
          <a:xfrm rot="10800000" flipV="1">
            <a:off x="6490451" y="4584877"/>
            <a:ext cx="432000" cy="1080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위</a:t>
            </a:r>
            <a:endParaRPr lang="en-US" altLang="ko-KR" sz="1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sz="1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기 </a:t>
            </a:r>
            <a:r>
              <a:rPr lang="en-US" altLang="ko-KR" sz="1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(T)</a:t>
            </a:r>
            <a:endParaRPr lang="ko-KR" altLang="en-US" sz="1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506E0D5-F7F0-14FB-0319-5E2AC02FE55B}"/>
              </a:ext>
            </a:extLst>
          </p:cNvPr>
          <p:cNvSpPr/>
          <p:nvPr/>
        </p:nvSpPr>
        <p:spPr>
          <a:xfrm>
            <a:off x="7103804" y="3091371"/>
            <a:ext cx="2282247" cy="10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충전 요금 부정 이슈</a:t>
            </a:r>
            <a:endParaRPr lang="en-US" altLang="ko-KR" sz="10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운영 리소스 없음</a:t>
            </a:r>
            <a:b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</a:br>
            <a:b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</a:br>
            <a: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&gt;&gt; </a:t>
            </a: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운영 리소스 없이 낮은 요금으로</a:t>
            </a:r>
            <a:b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</a:br>
            <a: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      </a:t>
            </a: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충전소 운영 가능  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BD080C3-CD85-F7AC-75E4-83D73AD5299D}"/>
              </a:ext>
            </a:extLst>
          </p:cNvPr>
          <p:cNvSpPr/>
          <p:nvPr/>
        </p:nvSpPr>
        <p:spPr>
          <a:xfrm rot="10800000" flipV="1">
            <a:off x="7103804" y="1824644"/>
            <a:ext cx="4788000" cy="4320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내부 요인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D0B3F39-9166-F7F4-9496-8977D150AC23}"/>
              </a:ext>
            </a:extLst>
          </p:cNvPr>
          <p:cNvSpPr/>
          <p:nvPr/>
        </p:nvSpPr>
        <p:spPr>
          <a:xfrm>
            <a:off x="9576369" y="3091371"/>
            <a:ext cx="2282247" cy="10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소규모 영업 채널</a:t>
            </a:r>
            <a:endParaRPr lang="en-US" altLang="ko-KR" sz="10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高 서비스 요금 부정 여론 형성</a:t>
            </a:r>
            <a:b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</a:br>
            <a:b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</a:br>
            <a: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&gt;&gt; </a:t>
            </a: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효율적 홍보 채널 모색</a:t>
            </a:r>
            <a: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</a:t>
            </a:r>
            <a:b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</a:br>
            <a: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      </a:t>
            </a: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보도자료 등 긍정 여론 형성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A19D619-F24F-DC6B-1D7F-05E625EF48D4}"/>
              </a:ext>
            </a:extLst>
          </p:cNvPr>
          <p:cNvSpPr/>
          <p:nvPr/>
        </p:nvSpPr>
        <p:spPr>
          <a:xfrm>
            <a:off x="7103804" y="4584878"/>
            <a:ext cx="2282247" cy="10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타 </a:t>
            </a:r>
            <a: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CPO</a:t>
            </a: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의 적극적인 영업</a:t>
            </a:r>
            <a:endParaRPr lang="en-US" altLang="ko-KR" sz="10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충전요금 거품 부정 이슈</a:t>
            </a:r>
            <a:b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</a:br>
            <a:b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</a:br>
            <a: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&gt;&gt; </a:t>
            </a: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타 </a:t>
            </a:r>
            <a: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CPO </a:t>
            </a: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견제</a:t>
            </a:r>
            <a: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요금 및 수익 비교</a:t>
            </a:r>
            <a: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</a:t>
            </a:r>
            <a:endParaRPr lang="ko-KR" altLang="en-US" sz="10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89E4D1F-E725-B82D-89C0-19B5F98DA6EA}"/>
              </a:ext>
            </a:extLst>
          </p:cNvPr>
          <p:cNvSpPr/>
          <p:nvPr/>
        </p:nvSpPr>
        <p:spPr>
          <a:xfrm>
            <a:off x="9567404" y="4584878"/>
            <a:ext cx="2282247" cy="10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타사 대비 영업채널 부족</a:t>
            </a:r>
            <a:endParaRPr lang="en-US" altLang="ko-KR" sz="10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영업 대상 고객 부족</a:t>
            </a:r>
            <a:b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</a:br>
            <a:b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</a:br>
            <a: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&gt;&gt; </a:t>
            </a:r>
            <a:r>
              <a:rPr lang="ko-KR" altLang="en-US" sz="1000" dirty="0" err="1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메일링</a:t>
            </a: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등 인적 리소스 최소화</a:t>
            </a:r>
            <a:b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</a:br>
            <a: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     (</a:t>
            </a:r>
            <a:r>
              <a:rPr lang="ko-KR" altLang="en-US" sz="1000" dirty="0" err="1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수주율</a:t>
            </a:r>
            <a: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&lt;</a:t>
            </a:r>
            <a:r>
              <a:rPr lang="ko-KR" altLang="en-US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도달수</a:t>
            </a:r>
            <a:r>
              <a:rPr lang="en-US" altLang="ko-KR" sz="1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</a:t>
            </a:r>
            <a:endParaRPr lang="ko-KR" altLang="en-US" sz="10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6EA5049-03B4-C1DE-3E58-B65C45FF87BE}"/>
              </a:ext>
            </a:extLst>
          </p:cNvPr>
          <p:cNvSpPr/>
          <p:nvPr/>
        </p:nvSpPr>
        <p:spPr>
          <a:xfrm rot="10800000" flipV="1">
            <a:off x="5890727" y="3091370"/>
            <a:ext cx="432000" cy="2573507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외</a:t>
            </a:r>
            <a:endParaRPr lang="en-US" altLang="ko-KR" sz="1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sz="1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부</a:t>
            </a:r>
            <a:endParaRPr lang="en-US" altLang="ko-KR" sz="1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sz="1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요</a:t>
            </a:r>
            <a:endParaRPr lang="en-US" altLang="ko-KR" sz="1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sz="1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인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AD4B590-02AB-B79F-8016-CC37DD421586}"/>
              </a:ext>
            </a:extLst>
          </p:cNvPr>
          <p:cNvSpPr/>
          <p:nvPr/>
        </p:nvSpPr>
        <p:spPr>
          <a:xfrm rot="10800000" flipV="1">
            <a:off x="168822" y="1304785"/>
            <a:ext cx="11722981" cy="432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evCloud2.0 SWOT </a:t>
            </a:r>
            <a:r>
              <a:rPr lang="ko-KR" altLang="en-US" sz="1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분석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D996540-AA13-3342-3223-58AE1EB9BCE4}"/>
              </a:ext>
            </a:extLst>
          </p:cNvPr>
          <p:cNvSpPr/>
          <p:nvPr/>
        </p:nvSpPr>
        <p:spPr>
          <a:xfrm rot="10800000" flipV="1">
            <a:off x="168821" y="5885234"/>
            <a:ext cx="1407059" cy="83657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핵심 전략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BB70966-13AF-A426-4D82-790810765B36}"/>
              </a:ext>
            </a:extLst>
          </p:cNvPr>
          <p:cNvSpPr/>
          <p:nvPr/>
        </p:nvSpPr>
        <p:spPr>
          <a:xfrm>
            <a:off x="1660983" y="5885234"/>
            <a:ext cx="10230819" cy="8365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</a:t>
            </a:r>
            <a:r>
              <a:rPr lang="ko-KR" altLang="en-US" sz="11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고    객</a:t>
            </a:r>
            <a:r>
              <a:rPr lang="en-US" altLang="ko-KR" sz="11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  </a:t>
            </a:r>
            <a:r>
              <a:rPr lang="ko-KR" altLang="en-US" sz="11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현재 </a:t>
            </a:r>
            <a:r>
              <a:rPr lang="en-US" altLang="ko-KR" sz="11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CPO</a:t>
            </a:r>
            <a:r>
              <a:rPr lang="ko-KR" altLang="en-US" sz="11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가 수취하는 매출을 고객이 직접 수취 → 수익 사업 또는 저 충전요금 복지 실현 가능</a:t>
            </a:r>
            <a:endParaRPr lang="en-US" altLang="ko-KR" sz="11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</a:t>
            </a:r>
            <a:r>
              <a:rPr lang="ko-KR" altLang="en-US" sz="1100" dirty="0" err="1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타디스</a:t>
            </a:r>
            <a:r>
              <a:rPr lang="en-US" altLang="ko-KR" sz="11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  </a:t>
            </a:r>
            <a:r>
              <a:rPr lang="ko-KR" altLang="en-US" sz="11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최소한의 서비스 비용을 받아 고객의 </a:t>
            </a:r>
            <a:r>
              <a:rPr lang="ko-KR" altLang="en-US" sz="1100" dirty="0" err="1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모수를</a:t>
            </a:r>
            <a:r>
              <a:rPr lang="ko-KR" altLang="en-US" sz="11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늘려 총 이익을 확보</a:t>
            </a:r>
            <a:r>
              <a:rPr lang="en-US" altLang="ko-KR" sz="11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</a:t>
            </a:r>
            <a:r>
              <a:rPr lang="ko-KR" altLang="en-US" sz="11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박리다매</a:t>
            </a:r>
            <a:r>
              <a:rPr lang="en-US" altLang="ko-KR" sz="11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7163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AC7F3-3009-B13C-90AF-ACE5E1055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2">
            <a:extLst>
              <a:ext uri="{FF2B5EF4-FFF2-40B4-BE49-F238E27FC236}">
                <a16:creationId xmlns:a16="http://schemas.microsoft.com/office/drawing/2014/main" id="{017D3713-B804-4A59-6030-79FB48D0B115}"/>
              </a:ext>
            </a:extLst>
          </p:cNvPr>
          <p:cNvSpPr txBox="1">
            <a:spLocks/>
          </p:cNvSpPr>
          <p:nvPr/>
        </p:nvSpPr>
        <p:spPr>
          <a:xfrm>
            <a:off x="611232" y="688788"/>
            <a:ext cx="8987995" cy="332399"/>
          </a:xfrm>
          <a:prstGeom prst="rect">
            <a:avLst/>
          </a:prstGeom>
        </p:spPr>
        <p:txBody>
          <a:bodyPr lIns="0" tIns="0" rIns="0" bIns="0"/>
          <a:lstStyle>
            <a:lvl1pPr algn="l" defTabSz="103674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98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gradFill>
                  <a:gsLst>
                    <a:gs pos="57522">
                      <a:schemeClr val="bg1"/>
                    </a:gs>
                    <a:gs pos="51000">
                      <a:schemeClr val="bg1"/>
                    </a:gs>
                  </a:gsLst>
                  <a:lin ang="5400000" scaled="1"/>
                </a:gra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서비스 </a:t>
            </a:r>
            <a:r>
              <a:rPr lang="ko-KR" altLang="en-US" sz="240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gradFill>
                  <a:gsLst>
                    <a:gs pos="57522">
                      <a:schemeClr val="bg1"/>
                    </a:gs>
                    <a:gs pos="51000">
                      <a:schemeClr val="bg1"/>
                    </a:gs>
                  </a:gsLst>
                  <a:lin ang="5400000" scaled="1"/>
                </a:gra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모델별</a:t>
            </a:r>
            <a:r>
              <a:rPr lang="ko-KR" altLang="en-US" sz="24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gradFill>
                  <a:gsLst>
                    <a:gs pos="57522">
                      <a:schemeClr val="bg1"/>
                    </a:gs>
                    <a:gs pos="51000">
                      <a:schemeClr val="bg1"/>
                    </a:gs>
                  </a:gsLst>
                  <a:lin ang="5400000" scaled="1"/>
                </a:gra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요금 및 정책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2BB2D63-0B40-F2C9-D5DB-118F0C4DB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451073"/>
              </p:ext>
            </p:extLst>
          </p:nvPr>
        </p:nvGraphicFramePr>
        <p:xfrm>
          <a:off x="515937" y="1356852"/>
          <a:ext cx="11160126" cy="541662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24604">
                  <a:extLst>
                    <a:ext uri="{9D8B030D-6E8A-4147-A177-3AD203B41FA5}">
                      <a16:colId xmlns:a16="http://schemas.microsoft.com/office/drawing/2014/main" val="2123231812"/>
                    </a:ext>
                  </a:extLst>
                </a:gridCol>
                <a:gridCol w="1631577">
                  <a:extLst>
                    <a:ext uri="{9D8B030D-6E8A-4147-A177-3AD203B41FA5}">
                      <a16:colId xmlns:a16="http://schemas.microsoft.com/office/drawing/2014/main" val="2376758836"/>
                    </a:ext>
                  </a:extLst>
                </a:gridCol>
                <a:gridCol w="1183341">
                  <a:extLst>
                    <a:ext uri="{9D8B030D-6E8A-4147-A177-3AD203B41FA5}">
                      <a16:colId xmlns:a16="http://schemas.microsoft.com/office/drawing/2014/main" val="2252978242"/>
                    </a:ext>
                  </a:extLst>
                </a:gridCol>
                <a:gridCol w="1378324">
                  <a:extLst>
                    <a:ext uri="{9D8B030D-6E8A-4147-A177-3AD203B41FA5}">
                      <a16:colId xmlns:a16="http://schemas.microsoft.com/office/drawing/2014/main" val="4065447115"/>
                    </a:ext>
                  </a:extLst>
                </a:gridCol>
                <a:gridCol w="1378324">
                  <a:extLst>
                    <a:ext uri="{9D8B030D-6E8A-4147-A177-3AD203B41FA5}">
                      <a16:colId xmlns:a16="http://schemas.microsoft.com/office/drawing/2014/main" val="3085112878"/>
                    </a:ext>
                  </a:extLst>
                </a:gridCol>
                <a:gridCol w="1378324">
                  <a:extLst>
                    <a:ext uri="{9D8B030D-6E8A-4147-A177-3AD203B41FA5}">
                      <a16:colId xmlns:a16="http://schemas.microsoft.com/office/drawing/2014/main" val="3737358458"/>
                    </a:ext>
                  </a:extLst>
                </a:gridCol>
                <a:gridCol w="1378324">
                  <a:extLst>
                    <a:ext uri="{9D8B030D-6E8A-4147-A177-3AD203B41FA5}">
                      <a16:colId xmlns:a16="http://schemas.microsoft.com/office/drawing/2014/main" val="2330128613"/>
                    </a:ext>
                  </a:extLst>
                </a:gridCol>
                <a:gridCol w="853654">
                  <a:extLst>
                    <a:ext uri="{9D8B030D-6E8A-4147-A177-3AD203B41FA5}">
                      <a16:colId xmlns:a16="http://schemas.microsoft.com/office/drawing/2014/main" val="1189218151"/>
                    </a:ext>
                  </a:extLst>
                </a:gridCol>
                <a:gridCol w="853654">
                  <a:extLst>
                    <a:ext uri="{9D8B030D-6E8A-4147-A177-3AD203B41FA5}">
                      <a16:colId xmlns:a16="http://schemas.microsoft.com/office/drawing/2014/main" val="1656704960"/>
                    </a:ext>
                  </a:extLst>
                </a:gridCol>
              </a:tblGrid>
              <a:tr h="42258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항목</a:t>
                      </a:r>
                      <a:endParaRPr lang="en-US" altLang="ko-KR" sz="1200" b="0" dirty="0">
                        <a:solidFill>
                          <a:schemeClr val="bg1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세부항목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과금 주기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Basic</a:t>
                      </a:r>
                    </a:p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가입 제한 없음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bg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Pro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충전기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100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기 이상 가입 가능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Enterprise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757846"/>
                  </a:ext>
                </a:extLst>
              </a:tr>
              <a:tr h="35082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bg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기본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무료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옵션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유료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기본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무료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옵션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유료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기본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무료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옵션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유료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310547"/>
                  </a:ext>
                </a:extLst>
              </a:tr>
              <a:tr h="395516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충전기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충전소 등록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충전기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-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시스템 연동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월간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10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 이하 무료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초과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기당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10,000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연동 수량별 단가 상이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테이블 단가표 참조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13"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커스터마이징 개발</a:t>
                      </a:r>
                      <a:endParaRPr lang="en-US" altLang="ko-KR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  <a:p>
                      <a:pPr algn="ctr" latinLnBrk="1"/>
                      <a:r>
                        <a:rPr lang="en-US" altLang="ko-KR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(</a:t>
                      </a:r>
                      <a:r>
                        <a:rPr lang="ko-KR" altLang="en-US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별도 협의</a:t>
                      </a:r>
                      <a:r>
                        <a:rPr lang="en-US" altLang="ko-KR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)</a:t>
                      </a:r>
                      <a:endParaRPr lang="ko-KR" alt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586146"/>
                  </a:ext>
                </a:extLst>
              </a:tr>
              <a:tr h="34624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충전소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-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시스템 연동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월간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5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개소 이하 무료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초과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개소 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10,000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무제한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무제한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03197"/>
                  </a:ext>
                </a:extLst>
              </a:tr>
              <a:tr h="39551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충전기 모델 프로토콜 연동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연동 건 당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타디스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연동완료 모델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타디스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연동완료 모델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추가 모델 연동 시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별도 협의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723850"/>
                  </a:ext>
                </a:extLst>
              </a:tr>
              <a:tr h="33312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통신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라우터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구매비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최초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30,000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30,000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294717"/>
                  </a:ext>
                </a:extLst>
              </a:tr>
              <a:tr h="33312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통신비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월간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8,900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8,900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624989"/>
                  </a:ext>
                </a:extLst>
              </a:tr>
              <a:tr h="33312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AS / CS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365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일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24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시간 콜센터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월간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10,000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10,000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947420"/>
                  </a:ext>
                </a:extLst>
              </a:tr>
              <a:tr h="39551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AS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비용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이슈 발생 시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출장비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6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만원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자재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공임비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별도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출장비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6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만원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자재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공임비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별도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559718"/>
                  </a:ext>
                </a:extLst>
              </a:tr>
              <a:tr h="346248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요금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/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정산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요금제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추가 개발 건당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단일 요금제 제공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단일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계시별 요금제 제공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325870"/>
                  </a:ext>
                </a:extLst>
              </a:tr>
              <a:tr h="39551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PG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이용 및 정산 서비스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월간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위탁 정산 가능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매출의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5%)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기본형 제공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781012"/>
                  </a:ext>
                </a:extLst>
              </a:tr>
              <a:tr h="33312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쿠폰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/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포인트 제도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추가 개발 건당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500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추가시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4746122"/>
                  </a:ext>
                </a:extLst>
              </a:tr>
              <a:tr h="33312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로밍 요금제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협약 건 당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타디스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PG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위탁시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가능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기본형 제공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254941"/>
                  </a:ext>
                </a:extLst>
              </a:tr>
              <a:tr h="33312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옵션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스마트제어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(DR)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추가 개발 건당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500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추가시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충전기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지원시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가능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1357895"/>
                  </a:ext>
                </a:extLst>
              </a:tr>
              <a:tr h="33312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Dash Board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구현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추가 개발 건당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기본형 제공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심화형 제공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162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9917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BC8D3-33C8-A4DA-6798-630E4D1B8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2">
            <a:extLst>
              <a:ext uri="{FF2B5EF4-FFF2-40B4-BE49-F238E27FC236}">
                <a16:creationId xmlns:a16="http://schemas.microsoft.com/office/drawing/2014/main" id="{D36AC136-BE74-181B-D017-9F473D2CD585}"/>
              </a:ext>
            </a:extLst>
          </p:cNvPr>
          <p:cNvSpPr txBox="1">
            <a:spLocks/>
          </p:cNvSpPr>
          <p:nvPr/>
        </p:nvSpPr>
        <p:spPr>
          <a:xfrm>
            <a:off x="611232" y="688788"/>
            <a:ext cx="8987995" cy="332399"/>
          </a:xfrm>
          <a:prstGeom prst="rect">
            <a:avLst/>
          </a:prstGeom>
        </p:spPr>
        <p:txBody>
          <a:bodyPr lIns="0" tIns="0" rIns="0" bIns="0"/>
          <a:lstStyle>
            <a:lvl1pPr algn="l" defTabSz="103674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98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gradFill>
                  <a:gsLst>
                    <a:gs pos="57522">
                      <a:schemeClr val="bg1"/>
                    </a:gs>
                    <a:gs pos="51000">
                      <a:schemeClr val="bg1"/>
                    </a:gs>
                  </a:gsLst>
                  <a:lin ang="5400000" scaled="1"/>
                </a:gra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Pro </a:t>
            </a:r>
            <a:r>
              <a:rPr lang="ko-KR" altLang="en-US" sz="24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gradFill>
                  <a:gsLst>
                    <a:gs pos="57522">
                      <a:schemeClr val="bg1"/>
                    </a:gs>
                    <a:gs pos="51000">
                      <a:schemeClr val="bg1"/>
                    </a:gs>
                  </a:gsLst>
                  <a:lin ang="5400000" scaled="1"/>
                </a:gra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서비스 충전기 연동 수량별 단가표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CF2E04D-21AD-BE99-BB76-6F8F3B59E8FB}"/>
              </a:ext>
            </a:extLst>
          </p:cNvPr>
          <p:cNvSpPr/>
          <p:nvPr/>
        </p:nvSpPr>
        <p:spPr>
          <a:xfrm flipV="1">
            <a:off x="515938" y="1529778"/>
            <a:ext cx="72000" cy="21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C14FA0-FCD5-FF9E-33DE-E4931B719ACF}"/>
              </a:ext>
            </a:extLst>
          </p:cNvPr>
          <p:cNvSpPr txBox="1"/>
          <p:nvPr/>
        </p:nvSpPr>
        <p:spPr>
          <a:xfrm>
            <a:off x="593036" y="1471244"/>
            <a:ext cx="43644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요금 단가표</a:t>
            </a:r>
            <a:endParaRPr lang="en-US" altLang="ko-KR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3203D69-4177-742D-9691-FB86E1860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859854"/>
              </p:ext>
            </p:extLst>
          </p:nvPr>
        </p:nvGraphicFramePr>
        <p:xfrm>
          <a:off x="515938" y="1868332"/>
          <a:ext cx="4958148" cy="270715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39537">
                  <a:extLst>
                    <a:ext uri="{9D8B030D-6E8A-4147-A177-3AD203B41FA5}">
                      <a16:colId xmlns:a16="http://schemas.microsoft.com/office/drawing/2014/main" val="2123231812"/>
                    </a:ext>
                  </a:extLst>
                </a:gridCol>
                <a:gridCol w="1239537">
                  <a:extLst>
                    <a:ext uri="{9D8B030D-6E8A-4147-A177-3AD203B41FA5}">
                      <a16:colId xmlns:a16="http://schemas.microsoft.com/office/drawing/2014/main" val="4065447115"/>
                    </a:ext>
                  </a:extLst>
                </a:gridCol>
                <a:gridCol w="1239537">
                  <a:extLst>
                    <a:ext uri="{9D8B030D-6E8A-4147-A177-3AD203B41FA5}">
                      <a16:colId xmlns:a16="http://schemas.microsoft.com/office/drawing/2014/main" val="3085112878"/>
                    </a:ext>
                  </a:extLst>
                </a:gridCol>
                <a:gridCol w="1239537">
                  <a:extLst>
                    <a:ext uri="{9D8B030D-6E8A-4147-A177-3AD203B41FA5}">
                      <a16:colId xmlns:a16="http://schemas.microsoft.com/office/drawing/2014/main" val="3737358458"/>
                    </a:ext>
                  </a:extLst>
                </a:gridCol>
              </a:tblGrid>
              <a:tr h="40421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정상 요금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bg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연동 수량에 따른 단가 테이블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310547"/>
                  </a:ext>
                </a:extLst>
              </a:tr>
              <a:tr h="383823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충전기 연동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건 당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10,000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100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건 </a:t>
                      </a: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~ 299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10,000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168724"/>
                  </a:ext>
                </a:extLst>
              </a:tr>
              <a:tr h="383823"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300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건 </a:t>
                      </a: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~ 499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9,000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03197"/>
                  </a:ext>
                </a:extLst>
              </a:tr>
              <a:tr h="383823"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500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건 </a:t>
                      </a: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~ 999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8,000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723850"/>
                  </a:ext>
                </a:extLst>
              </a:tr>
              <a:tr h="383823"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1,000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건 </a:t>
                      </a: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~ 1,999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7,000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294717"/>
                  </a:ext>
                </a:extLst>
              </a:tr>
              <a:tr h="383823"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2,000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건 </a:t>
                      </a: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~ 2,999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6,000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624989"/>
                  </a:ext>
                </a:extLst>
              </a:tr>
              <a:tr h="383823"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3,000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건 이상</a:t>
                      </a:r>
                      <a:endParaRPr lang="ko-KR" altLang="en-US" sz="1000" b="0" dirty="0">
                        <a:solidFill>
                          <a:srgbClr val="C0000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5,000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947420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38C3A87-B0D5-02CF-817E-CAE42E3BD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373481"/>
              </p:ext>
            </p:extLst>
          </p:nvPr>
        </p:nvGraphicFramePr>
        <p:xfrm>
          <a:off x="7210096" y="1868333"/>
          <a:ext cx="4014951" cy="436072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38317">
                  <a:extLst>
                    <a:ext uri="{9D8B030D-6E8A-4147-A177-3AD203B41FA5}">
                      <a16:colId xmlns:a16="http://schemas.microsoft.com/office/drawing/2014/main" val="2123231812"/>
                    </a:ext>
                  </a:extLst>
                </a:gridCol>
                <a:gridCol w="1338317">
                  <a:extLst>
                    <a:ext uri="{9D8B030D-6E8A-4147-A177-3AD203B41FA5}">
                      <a16:colId xmlns:a16="http://schemas.microsoft.com/office/drawing/2014/main" val="4065447115"/>
                    </a:ext>
                  </a:extLst>
                </a:gridCol>
                <a:gridCol w="1338317">
                  <a:extLst>
                    <a:ext uri="{9D8B030D-6E8A-4147-A177-3AD203B41FA5}">
                      <a16:colId xmlns:a16="http://schemas.microsoft.com/office/drawing/2014/main" val="3085112878"/>
                    </a:ext>
                  </a:extLst>
                </a:gridCol>
              </a:tblGrid>
              <a:tr h="2693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연동 건 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적용 테이블 단가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과금액</a:t>
                      </a:r>
                      <a:endParaRPr lang="ko-KR" altLang="en-US" sz="1000" b="0" dirty="0">
                        <a:solidFill>
                          <a:schemeClr val="bg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310547"/>
                  </a:ext>
                </a:extLst>
              </a:tr>
              <a:tr h="255714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100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10,000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1,0</a:t>
                      </a: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00,000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원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168724"/>
                  </a:ext>
                </a:extLst>
              </a:tr>
              <a:tr h="255714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270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10,000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2,700,000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원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499775"/>
                  </a:ext>
                </a:extLst>
              </a:tr>
              <a:tr h="255714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299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10,000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2,990,000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원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003197"/>
                  </a:ext>
                </a:extLst>
              </a:tr>
              <a:tr h="255714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300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9,000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2,700,000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원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23850"/>
                  </a:ext>
                </a:extLst>
              </a:tr>
              <a:tr h="25571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445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9,000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4,005,000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원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641811"/>
                  </a:ext>
                </a:extLst>
              </a:tr>
              <a:tr h="25571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499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9,000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4,491,000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원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294717"/>
                  </a:ext>
                </a:extLst>
              </a:tr>
              <a:tr h="255714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500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8,000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4,000,000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원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624989"/>
                  </a:ext>
                </a:extLst>
              </a:tr>
              <a:tr h="255714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875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8,000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7,000,000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원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1811246"/>
                  </a:ext>
                </a:extLst>
              </a:tr>
              <a:tr h="255714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999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8,000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7,992,000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원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947420"/>
                  </a:ext>
                </a:extLst>
              </a:tr>
              <a:tr h="255714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1,000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7,000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7,000,000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원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632466"/>
                  </a:ext>
                </a:extLst>
              </a:tr>
              <a:tr h="255714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1,715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7,000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12,005,000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원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881923"/>
                  </a:ext>
                </a:extLst>
              </a:tr>
              <a:tr h="255714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1,999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7,000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13,993,000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원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41911"/>
                  </a:ext>
                </a:extLst>
              </a:tr>
              <a:tr h="255714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2,000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6,000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12,000,000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원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397124"/>
                  </a:ext>
                </a:extLst>
              </a:tr>
              <a:tr h="255714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2,500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6,000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15,000,000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원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909845"/>
                  </a:ext>
                </a:extLst>
              </a:tr>
              <a:tr h="255714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2,999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6,000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17,994,000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원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1442"/>
                  </a:ext>
                </a:extLst>
              </a:tr>
              <a:tr h="255714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3,000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5,000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15,000,000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원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354816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8479D2A7-F999-EA84-24EC-589E75D012A5}"/>
              </a:ext>
            </a:extLst>
          </p:cNvPr>
          <p:cNvSpPr/>
          <p:nvPr/>
        </p:nvSpPr>
        <p:spPr>
          <a:xfrm flipV="1">
            <a:off x="7210096" y="1529778"/>
            <a:ext cx="72000" cy="21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E40732-5F61-5136-2482-1637FD4CDE5B}"/>
              </a:ext>
            </a:extLst>
          </p:cNvPr>
          <p:cNvSpPr txBox="1"/>
          <p:nvPr/>
        </p:nvSpPr>
        <p:spPr>
          <a:xfrm>
            <a:off x="7287194" y="1471244"/>
            <a:ext cx="43644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단가 테이블에 따른 </a:t>
            </a:r>
            <a:r>
              <a:rPr lang="ko-KR" altLang="en-US" sz="1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과금액</a:t>
            </a:r>
            <a:r>
              <a:rPr lang="ko-KR" altLang="en-US" sz="1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변동</a:t>
            </a:r>
            <a:endParaRPr lang="en-US" altLang="ko-KR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754E8E-DBB3-D1BB-CC42-C00747C477D1}"/>
              </a:ext>
            </a:extLst>
          </p:cNvPr>
          <p:cNvSpPr txBox="1"/>
          <p:nvPr/>
        </p:nvSpPr>
        <p:spPr>
          <a:xfrm>
            <a:off x="515938" y="4698040"/>
            <a:ext cx="26697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CASS </a:t>
            </a:r>
            <a:r>
              <a:rPr lang="ko-KR" altLang="en-US" sz="12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제공</a:t>
            </a:r>
            <a:endParaRPr lang="en-US" altLang="ko-KR" sz="1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1111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BA7BD-00E0-FB8C-C927-812D9DC18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2">
            <a:extLst>
              <a:ext uri="{FF2B5EF4-FFF2-40B4-BE49-F238E27FC236}">
                <a16:creationId xmlns:a16="http://schemas.microsoft.com/office/drawing/2014/main" id="{CA87D0CC-F1F8-F546-34F5-5E135A7BEC38}"/>
              </a:ext>
            </a:extLst>
          </p:cNvPr>
          <p:cNvSpPr txBox="1">
            <a:spLocks/>
          </p:cNvSpPr>
          <p:nvPr/>
        </p:nvSpPr>
        <p:spPr>
          <a:xfrm>
            <a:off x="611232" y="688788"/>
            <a:ext cx="8987995" cy="332399"/>
          </a:xfrm>
          <a:prstGeom prst="rect">
            <a:avLst/>
          </a:prstGeom>
        </p:spPr>
        <p:txBody>
          <a:bodyPr lIns="0" tIns="0" rIns="0" bIns="0"/>
          <a:lstStyle>
            <a:lvl1pPr algn="l" defTabSz="103674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98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gradFill>
                  <a:gsLst>
                    <a:gs pos="57522">
                      <a:schemeClr val="bg1"/>
                    </a:gs>
                    <a:gs pos="51000">
                      <a:schemeClr val="bg1"/>
                    </a:gs>
                  </a:gsLst>
                  <a:lin ang="5400000" scaled="1"/>
                </a:gra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Basic</a:t>
            </a:r>
            <a:r>
              <a:rPr lang="ko-KR" altLang="en-US" sz="24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gradFill>
                  <a:gsLst>
                    <a:gs pos="57522">
                      <a:schemeClr val="bg1"/>
                    </a:gs>
                    <a:gs pos="51000">
                      <a:schemeClr val="bg1"/>
                    </a:gs>
                  </a:gsLst>
                  <a:lin ang="5400000" scaled="1"/>
                </a:gra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모델 요금 및 정책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03800CE-C7AF-234C-447A-96232E8BB82C}"/>
              </a:ext>
            </a:extLst>
          </p:cNvPr>
          <p:cNvSpPr/>
          <p:nvPr/>
        </p:nvSpPr>
        <p:spPr>
          <a:xfrm flipV="1">
            <a:off x="515938" y="1529778"/>
            <a:ext cx="72000" cy="21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702DC7-00EC-16AE-C5DB-113F85CD0518}"/>
              </a:ext>
            </a:extLst>
          </p:cNvPr>
          <p:cNvSpPr txBox="1"/>
          <p:nvPr/>
        </p:nvSpPr>
        <p:spPr>
          <a:xfrm>
            <a:off x="593036" y="1471244"/>
            <a:ext cx="43644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evCloud2.0 Basic </a:t>
            </a:r>
            <a:r>
              <a:rPr lang="ko-KR" altLang="en-US" sz="1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요금표</a:t>
            </a:r>
            <a:endParaRPr lang="en-US" altLang="ko-KR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906C7061-C184-31DB-1957-AF85FD6204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839536"/>
              </p:ext>
            </p:extLst>
          </p:nvPr>
        </p:nvGraphicFramePr>
        <p:xfrm>
          <a:off x="545410" y="1871284"/>
          <a:ext cx="11296967" cy="4726367"/>
        </p:xfrm>
        <a:graphic>
          <a:graphicData uri="http://schemas.openxmlformats.org/drawingml/2006/table">
            <a:tbl>
              <a:tblPr/>
              <a:tblGrid>
                <a:gridCol w="1373037">
                  <a:extLst>
                    <a:ext uri="{9D8B030D-6E8A-4147-A177-3AD203B41FA5}">
                      <a16:colId xmlns:a16="http://schemas.microsoft.com/office/drawing/2014/main" val="3749510751"/>
                    </a:ext>
                  </a:extLst>
                </a:gridCol>
                <a:gridCol w="2934180">
                  <a:extLst>
                    <a:ext uri="{9D8B030D-6E8A-4147-A177-3AD203B41FA5}">
                      <a16:colId xmlns:a16="http://schemas.microsoft.com/office/drawing/2014/main" val="2632489432"/>
                    </a:ext>
                  </a:extLst>
                </a:gridCol>
                <a:gridCol w="1694099">
                  <a:extLst>
                    <a:ext uri="{9D8B030D-6E8A-4147-A177-3AD203B41FA5}">
                      <a16:colId xmlns:a16="http://schemas.microsoft.com/office/drawing/2014/main" val="606995728"/>
                    </a:ext>
                  </a:extLst>
                </a:gridCol>
                <a:gridCol w="1694099">
                  <a:extLst>
                    <a:ext uri="{9D8B030D-6E8A-4147-A177-3AD203B41FA5}">
                      <a16:colId xmlns:a16="http://schemas.microsoft.com/office/drawing/2014/main" val="1129797753"/>
                    </a:ext>
                  </a:extLst>
                </a:gridCol>
                <a:gridCol w="1800776">
                  <a:extLst>
                    <a:ext uri="{9D8B030D-6E8A-4147-A177-3AD203B41FA5}">
                      <a16:colId xmlns:a16="http://schemas.microsoft.com/office/drawing/2014/main" val="393533841"/>
                    </a:ext>
                  </a:extLst>
                </a:gridCol>
                <a:gridCol w="1800776">
                  <a:extLst>
                    <a:ext uri="{9D8B030D-6E8A-4147-A177-3AD203B41FA5}">
                      <a16:colId xmlns:a16="http://schemas.microsoft.com/office/drawing/2014/main" val="2480751974"/>
                    </a:ext>
                  </a:extLst>
                </a:gridCol>
              </a:tblGrid>
              <a:tr h="351654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운영 항목</a:t>
                      </a:r>
                      <a:endParaRPr lang="ko-KR" altLang="en-US" sz="10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endParaRPr lang="en-US" altLang="ko-KR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ko-KR" altLang="en-US" sz="10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+mn-cs"/>
                        </a:rPr>
                        <a:t>비용 산정</a:t>
                      </a:r>
                      <a:endParaRPr lang="en-US" altLang="ko-KR" sz="1000" b="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endParaRPr lang="en-US" altLang="ko-KR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ko-KR" altLang="en-US" sz="10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+mn-cs"/>
                        </a:rPr>
                        <a:t>매출 이익</a:t>
                      </a:r>
                      <a:endParaRPr lang="en-US" altLang="ko-KR" sz="1000" b="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+mn-cs"/>
                      </a:endParaRPr>
                    </a:p>
                    <a:p>
                      <a:pPr marL="0" algn="ctr" defTabSz="457200" rtl="0" eaLnBrk="1" fontAlgn="ctr" latinLnBrk="0" hangingPunct="1"/>
                      <a:r>
                        <a:rPr lang="en-US" altLang="ko-KR" sz="10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+mn-cs"/>
                        </a:rPr>
                        <a:t>공급가</a:t>
                      </a:r>
                      <a:r>
                        <a:rPr lang="en-US" altLang="ko-KR" sz="10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+mn-cs"/>
                        </a:rPr>
                        <a:t>공급원가</a:t>
                      </a:r>
                      <a:r>
                        <a:rPr lang="en-US" altLang="ko-KR" sz="10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ko-KR" altLang="en-US" sz="1000" b="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03595"/>
                  </a:ext>
                </a:extLst>
              </a:tr>
              <a:tr h="467648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180000" marR="180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공급원가</a:t>
                      </a: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공급가</a:t>
                      </a: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bg1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47004"/>
                  </a:ext>
                </a:extLst>
              </a:tr>
              <a:tr h="287783">
                <a:tc rowSpan="2">
                  <a:txBody>
                    <a:bodyPr/>
                    <a:lstStyle/>
                    <a:p>
                      <a:pPr marL="0" lvl="0" indent="0" algn="ctr" fontAlgn="ctr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충전관리시스템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  <a:p>
                      <a:pPr marL="0" lvl="0" indent="0" algn="ctr" font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-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충전기 연동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최대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10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기 시스템 연동 무료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(AWS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이용료 기준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1,500</a:t>
                      </a:r>
                      <a:r>
                        <a:rPr lang="ko-KR" altLang="en-US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  <a:r>
                        <a:rPr lang="en-US" altLang="ko-KR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(1</a:t>
                      </a:r>
                      <a:r>
                        <a:rPr lang="ko-KR" altLang="en-US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기당</a:t>
                      </a:r>
                      <a:r>
                        <a:rPr lang="en-US" altLang="ko-KR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무료</a:t>
                      </a: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최대 </a:t>
                      </a:r>
                      <a:r>
                        <a:rPr lang="en-US" altLang="ko-KR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–15,000</a:t>
                      </a:r>
                      <a:r>
                        <a:rPr lang="ko-KR" alt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원</a:t>
                      </a:r>
                      <a:r>
                        <a:rPr lang="en-US" altLang="ko-KR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월간</a:t>
                      </a:r>
                      <a:r>
                        <a:rPr lang="en-US" altLang="ko-KR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7,000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기 기준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1,000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만원 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이용비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 산정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약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1,428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원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2863452"/>
                  </a:ext>
                </a:extLst>
              </a:tr>
              <a:tr h="287783">
                <a:tc vMerge="1">
                  <a:txBody>
                    <a:bodyPr/>
                    <a:lstStyle/>
                    <a:p>
                      <a:pPr marL="171450" lvl="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추가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1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기당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(AWS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이용료 기준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)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1,500</a:t>
                      </a:r>
                      <a:r>
                        <a:rPr lang="ko-KR" altLang="en-US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  <a:r>
                        <a:rPr lang="en-US" altLang="ko-KR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(1</a:t>
                      </a:r>
                      <a:r>
                        <a:rPr lang="ko-KR" altLang="en-US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기당</a:t>
                      </a:r>
                      <a:r>
                        <a:rPr lang="en-US" altLang="ko-KR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10,000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원</a:t>
                      </a: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1</a:t>
                      </a:r>
                      <a:r>
                        <a:rPr lang="ko-KR" alt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기당 </a:t>
                      </a:r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8,500</a:t>
                      </a:r>
                      <a:r>
                        <a:rPr lang="ko-KR" alt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원</a:t>
                      </a:r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월간</a:t>
                      </a:r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rgbClr val="C00000"/>
                        </a:solidFill>
                        <a:effectLst/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03852"/>
                  </a:ext>
                </a:extLst>
              </a:tr>
              <a:tr h="287783">
                <a:tc rowSpan="3"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운영 제반 비용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타디스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PG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이용 및 정산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카드 결제 한정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)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매출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*2.55%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매출</a:t>
                      </a:r>
                      <a:r>
                        <a:rPr lang="en-US" altLang="ko-KR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*5%</a:t>
                      </a:r>
                      <a:endParaRPr lang="ko-KR" alt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C000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매출</a:t>
                      </a:r>
                      <a:r>
                        <a:rPr lang="en-US" altLang="ko-KR" sz="1000" dirty="0">
                          <a:solidFill>
                            <a:srgbClr val="C000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*2.45(</a:t>
                      </a:r>
                      <a:r>
                        <a:rPr lang="ko-KR" altLang="en-US" sz="1000" dirty="0">
                          <a:solidFill>
                            <a:srgbClr val="C000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월간</a:t>
                      </a:r>
                      <a:r>
                        <a:rPr lang="en-US" altLang="ko-KR" sz="1000" dirty="0">
                          <a:solidFill>
                            <a:srgbClr val="C000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rgbClr val="C0000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323250"/>
                  </a:ext>
                </a:extLst>
              </a:tr>
              <a:tr h="287783">
                <a:tc vMerge="1"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충전서비스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A/S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유지보수 및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C/S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현장 출동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월간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)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Case by Case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이슈 발생 시 별도 견적</a:t>
                      </a: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Case by Case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825061"/>
                  </a:ext>
                </a:extLst>
              </a:tr>
              <a:tr h="287783">
                <a:tc vMerge="1"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고객 불편 대응 고객센터 운영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월간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)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2,500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원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기당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10,000</a:t>
                      </a:r>
                      <a:r>
                        <a:rPr lang="ko-KR" altLang="en-US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  <a:r>
                        <a:rPr lang="en-US" altLang="ko-KR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충전기당</a:t>
                      </a:r>
                      <a:r>
                        <a:rPr lang="en-US" altLang="ko-KR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C000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7,500</a:t>
                      </a:r>
                      <a:r>
                        <a:rPr lang="ko-KR" altLang="en-US" sz="1000" dirty="0">
                          <a:solidFill>
                            <a:srgbClr val="C000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  <a:r>
                        <a:rPr lang="en-US" altLang="ko-KR" sz="1000" dirty="0">
                          <a:solidFill>
                            <a:srgbClr val="C000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C000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월간</a:t>
                      </a:r>
                      <a:r>
                        <a:rPr lang="en-US" altLang="ko-KR" sz="1000" dirty="0">
                          <a:solidFill>
                            <a:srgbClr val="C000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rgbClr val="C0000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1,300</a:t>
                      </a:r>
                      <a:r>
                        <a:rPr lang="ko-KR" altLang="en-US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 기준 </a:t>
                      </a:r>
                      <a:r>
                        <a:rPr lang="en-US" altLang="ko-KR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350</a:t>
                      </a:r>
                      <a:r>
                        <a:rPr lang="ko-KR" altLang="en-US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만원</a:t>
                      </a:r>
                      <a:endParaRPr lang="en-US" altLang="ko-KR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935512"/>
                  </a:ext>
                </a:extLst>
              </a:tr>
              <a:tr h="287783">
                <a:tc rowSpan="2"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통신비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라우터</a:t>
                      </a: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 or </a:t>
                      </a:r>
                      <a:r>
                        <a:rPr lang="ko-KR" altLang="en-US" sz="1000" b="0" dirty="0" err="1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통신모뎀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 </a:t>
                      </a:r>
                      <a:r>
                        <a:rPr lang="ko-KR" altLang="en-US" sz="1000" b="0" dirty="0" err="1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구매비</a:t>
                      </a: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(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최초 </a:t>
                      </a: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1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회</a:t>
                      </a: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)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3,300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원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(5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년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계약시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30,000</a:t>
                      </a:r>
                      <a:r>
                        <a:rPr lang="ko-KR" altLang="en-US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C000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5,600</a:t>
                      </a:r>
                      <a:r>
                        <a:rPr lang="ko-KR" altLang="en-US" sz="1000" dirty="0">
                          <a:solidFill>
                            <a:srgbClr val="C000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  <a:r>
                        <a:rPr lang="en-US" altLang="ko-KR" sz="1000" dirty="0">
                          <a:solidFill>
                            <a:srgbClr val="C000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C000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월간</a:t>
                      </a:r>
                      <a:r>
                        <a:rPr lang="en-US" altLang="ko-KR" sz="1000" dirty="0">
                          <a:solidFill>
                            <a:srgbClr val="C000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)+30,000</a:t>
                      </a:r>
                      <a:r>
                        <a:rPr lang="ko-KR" altLang="en-US" sz="1000" dirty="0">
                          <a:solidFill>
                            <a:srgbClr val="C000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8779385"/>
                  </a:ext>
                </a:extLst>
              </a:tr>
              <a:tr h="287783">
                <a:tc vMerge="1">
                  <a:txBody>
                    <a:bodyPr/>
                    <a:lstStyle/>
                    <a:p>
                      <a:pPr marL="171450" lvl="0" indent="-171450" algn="ctr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통신요금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(300MB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모뎀사용료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월간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)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8,900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원</a:t>
                      </a: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767693"/>
                  </a:ext>
                </a:extLst>
              </a:tr>
              <a:tr h="287783">
                <a:tc rowSpan="3"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법정 의무 운영 항목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충전시설 의무보험 가입</a:t>
                      </a: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(1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기당</a:t>
                      </a: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연간</a:t>
                      </a: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)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3,500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원</a:t>
                      </a: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9,900</a:t>
                      </a:r>
                      <a:r>
                        <a:rPr lang="ko-KR" altLang="en-US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C000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6,400</a:t>
                      </a:r>
                      <a:r>
                        <a:rPr lang="ko-KR" altLang="en-US" sz="1000" dirty="0">
                          <a:solidFill>
                            <a:srgbClr val="C000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  <a:r>
                        <a:rPr lang="en-US" altLang="ko-KR" sz="1000" dirty="0">
                          <a:solidFill>
                            <a:srgbClr val="C000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C000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기당</a:t>
                      </a:r>
                      <a:r>
                        <a:rPr lang="en-US" altLang="ko-KR" sz="1000" dirty="0">
                          <a:solidFill>
                            <a:srgbClr val="C000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C000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연간</a:t>
                      </a:r>
                      <a:r>
                        <a:rPr lang="en-US" altLang="ko-KR" sz="1000" dirty="0">
                          <a:solidFill>
                            <a:srgbClr val="C000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rgbClr val="C0000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620125"/>
                  </a:ext>
                </a:extLst>
              </a:tr>
              <a:tr h="453669">
                <a:tc vMerge="1">
                  <a:txBody>
                    <a:bodyPr/>
                    <a:lstStyle/>
                    <a:p>
                      <a:pPr marL="171450" lvl="0" indent="-171450" algn="ctr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전기 안전점검</a:t>
                      </a: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(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주거시설 </a:t>
                      </a: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3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년</a:t>
                      </a: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이외 시설 </a:t>
                      </a: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2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년 단위</a:t>
                      </a: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)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43,000</a:t>
                      </a:r>
                      <a:r>
                        <a:rPr lang="ko-KR" altLang="en-US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  <a:r>
                        <a:rPr lang="en-US" altLang="ko-KR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충전소당</a:t>
                      </a:r>
                      <a:r>
                        <a:rPr lang="en-US" altLang="ko-KR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+7,700</a:t>
                      </a:r>
                      <a:r>
                        <a:rPr lang="ko-KR" altLang="en-US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  <a:r>
                        <a:rPr lang="en-US" altLang="ko-KR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기당</a:t>
                      </a:r>
                      <a:r>
                        <a:rPr lang="en-US" altLang="ko-KR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43,000</a:t>
                      </a:r>
                      <a:r>
                        <a:rPr lang="ko-KR" altLang="en-US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  <a:r>
                        <a:rPr lang="en-US" altLang="ko-KR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충전소당</a:t>
                      </a:r>
                      <a:r>
                        <a:rPr lang="en-US" altLang="ko-KR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+7,700</a:t>
                      </a:r>
                      <a:r>
                        <a:rPr lang="ko-KR" altLang="en-US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  <a:r>
                        <a:rPr lang="en-US" altLang="ko-KR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기당</a:t>
                      </a:r>
                      <a:r>
                        <a:rPr lang="en-US" altLang="ko-KR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고객 직접 시행</a:t>
                      </a: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073062"/>
                  </a:ext>
                </a:extLst>
              </a:tr>
              <a:tr h="287783">
                <a:tc vMerge="1">
                  <a:txBody>
                    <a:bodyPr/>
                    <a:lstStyle/>
                    <a:p>
                      <a:pPr marL="171450" lvl="0" indent="-171450" algn="ctr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전기 안전관리자 선임 대행</a:t>
                      </a: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(75kW 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이상 전기계약시</a:t>
                      </a: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)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100,000</a:t>
                      </a:r>
                      <a:r>
                        <a:rPr lang="ko-KR" altLang="en-US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150,000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원</a:t>
                      </a: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고객 직접 선임</a:t>
                      </a: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9185258"/>
                  </a:ext>
                </a:extLst>
              </a:tr>
              <a:tr h="287783">
                <a:tc rowSpan="3"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전기 요금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전기 </a:t>
                      </a:r>
                      <a:r>
                        <a:rPr lang="ko-KR" altLang="en-US" sz="1000" b="0" dirty="0" err="1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기본비</a:t>
                      </a: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(7kW 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기준</a:t>
                      </a: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)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18,060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원</a:t>
                      </a: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18,060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원</a:t>
                      </a: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고객 직접 납부</a:t>
                      </a: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0047952"/>
                  </a:ext>
                </a:extLst>
              </a:tr>
              <a:tr h="287783">
                <a:tc vMerge="1"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전기 사용료</a:t>
                      </a: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(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월 </a:t>
                      </a:r>
                      <a:r>
                        <a:rPr lang="ko-KR" altLang="en-US" sz="1000" b="0" dirty="0" err="1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충전량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 </a:t>
                      </a: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100kW 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기준 평균 요금</a:t>
                      </a: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)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11,800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원</a:t>
                      </a: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11,800</a:t>
                      </a:r>
                      <a:r>
                        <a:rPr lang="ko-KR" altLang="en-US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366823"/>
                  </a:ext>
                </a:extLst>
              </a:tr>
              <a:tr h="287783">
                <a:tc vMerge="1"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전력기금 외 기타</a:t>
                      </a: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(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월 </a:t>
                      </a:r>
                      <a:r>
                        <a:rPr lang="ko-KR" altLang="en-US" sz="1000" b="0" dirty="0" err="1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충전량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 </a:t>
                      </a: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100kW 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기준 평균 요금</a:t>
                      </a: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)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500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원</a:t>
                      </a: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500</a:t>
                      </a:r>
                      <a:r>
                        <a:rPr lang="ko-KR" altLang="en-US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180000" marR="180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638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8883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A26D2-BC6F-8E96-F522-846A42F31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2">
            <a:extLst>
              <a:ext uri="{FF2B5EF4-FFF2-40B4-BE49-F238E27FC236}">
                <a16:creationId xmlns:a16="http://schemas.microsoft.com/office/drawing/2014/main" id="{D38605F9-13AF-5CDA-BB44-07C0607178A2}"/>
              </a:ext>
            </a:extLst>
          </p:cNvPr>
          <p:cNvSpPr txBox="1">
            <a:spLocks/>
          </p:cNvSpPr>
          <p:nvPr/>
        </p:nvSpPr>
        <p:spPr>
          <a:xfrm>
            <a:off x="611232" y="688788"/>
            <a:ext cx="8987995" cy="332399"/>
          </a:xfrm>
          <a:prstGeom prst="rect">
            <a:avLst/>
          </a:prstGeom>
        </p:spPr>
        <p:txBody>
          <a:bodyPr lIns="0" tIns="0" rIns="0" bIns="0"/>
          <a:lstStyle>
            <a:lvl1pPr algn="l" defTabSz="103674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98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gradFill>
                  <a:gsLst>
                    <a:gs pos="57522">
                      <a:schemeClr val="bg1"/>
                    </a:gs>
                    <a:gs pos="51000">
                      <a:schemeClr val="bg1"/>
                    </a:gs>
                  </a:gsLst>
                  <a:lin ang="5400000" scaled="1"/>
                </a:gra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고객 </a:t>
            </a:r>
            <a:r>
              <a:rPr lang="en-US" altLang="ko-KR" sz="24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gradFill>
                  <a:gsLst>
                    <a:gs pos="57522">
                      <a:schemeClr val="bg1"/>
                    </a:gs>
                    <a:gs pos="51000">
                      <a:schemeClr val="bg1"/>
                    </a:gs>
                  </a:gsLst>
                  <a:lin ang="5400000" scaled="1"/>
                </a:gra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Benefit</a:t>
            </a:r>
            <a:endParaRPr lang="ko-KR" altLang="en-US" sz="240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gradFill>
                <a:gsLst>
                  <a:gs pos="57522">
                    <a:schemeClr val="bg1"/>
                  </a:gs>
                  <a:gs pos="51000">
                    <a:schemeClr val="bg1"/>
                  </a:gs>
                </a:gsLst>
                <a:lin ang="5400000" scaled="1"/>
              </a:gra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FB22E3B-1ED1-D8E3-E4D3-E7EFCB9A045A}"/>
              </a:ext>
            </a:extLst>
          </p:cNvPr>
          <p:cNvSpPr/>
          <p:nvPr/>
        </p:nvSpPr>
        <p:spPr>
          <a:xfrm flipV="1">
            <a:off x="515938" y="1529778"/>
            <a:ext cx="72000" cy="21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3183FF-793C-4732-C92D-F2CA3D8F19E2}"/>
              </a:ext>
            </a:extLst>
          </p:cNvPr>
          <p:cNvSpPr txBox="1"/>
          <p:nvPr/>
        </p:nvSpPr>
        <p:spPr>
          <a:xfrm>
            <a:off x="593036" y="1471244"/>
            <a:ext cx="43644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운영 </a:t>
            </a:r>
            <a:r>
              <a:rPr lang="en-US" altLang="ko-KR" sz="1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Case</a:t>
            </a:r>
            <a:r>
              <a:rPr lang="ko-KR" altLang="en-US" sz="1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별 시뮬레이션</a:t>
            </a:r>
            <a:endParaRPr lang="en-US" altLang="ko-KR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DE64B96-F0BF-C071-4209-1A189D3BA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606837"/>
              </p:ext>
            </p:extLst>
          </p:nvPr>
        </p:nvGraphicFramePr>
        <p:xfrm>
          <a:off x="515937" y="2304117"/>
          <a:ext cx="11155832" cy="270715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36981">
                  <a:extLst>
                    <a:ext uri="{9D8B030D-6E8A-4147-A177-3AD203B41FA5}">
                      <a16:colId xmlns:a16="http://schemas.microsoft.com/office/drawing/2014/main" val="2123231812"/>
                    </a:ext>
                  </a:extLst>
                </a:gridCol>
                <a:gridCol w="1461247">
                  <a:extLst>
                    <a:ext uri="{9D8B030D-6E8A-4147-A177-3AD203B41FA5}">
                      <a16:colId xmlns:a16="http://schemas.microsoft.com/office/drawing/2014/main" val="4065447115"/>
                    </a:ext>
                  </a:extLst>
                </a:gridCol>
                <a:gridCol w="1165372">
                  <a:extLst>
                    <a:ext uri="{9D8B030D-6E8A-4147-A177-3AD203B41FA5}">
                      <a16:colId xmlns:a16="http://schemas.microsoft.com/office/drawing/2014/main" val="3085112878"/>
                    </a:ext>
                  </a:extLst>
                </a:gridCol>
                <a:gridCol w="1165372">
                  <a:extLst>
                    <a:ext uri="{9D8B030D-6E8A-4147-A177-3AD203B41FA5}">
                      <a16:colId xmlns:a16="http://schemas.microsoft.com/office/drawing/2014/main" val="3737358458"/>
                    </a:ext>
                  </a:extLst>
                </a:gridCol>
                <a:gridCol w="1165372">
                  <a:extLst>
                    <a:ext uri="{9D8B030D-6E8A-4147-A177-3AD203B41FA5}">
                      <a16:colId xmlns:a16="http://schemas.microsoft.com/office/drawing/2014/main" val="2330128613"/>
                    </a:ext>
                  </a:extLst>
                </a:gridCol>
                <a:gridCol w="1165372">
                  <a:extLst>
                    <a:ext uri="{9D8B030D-6E8A-4147-A177-3AD203B41FA5}">
                      <a16:colId xmlns:a16="http://schemas.microsoft.com/office/drawing/2014/main" val="1189218151"/>
                    </a:ext>
                  </a:extLst>
                </a:gridCol>
                <a:gridCol w="1165372">
                  <a:extLst>
                    <a:ext uri="{9D8B030D-6E8A-4147-A177-3AD203B41FA5}">
                      <a16:colId xmlns:a16="http://schemas.microsoft.com/office/drawing/2014/main" val="1656704960"/>
                    </a:ext>
                  </a:extLst>
                </a:gridCol>
                <a:gridCol w="1165372">
                  <a:extLst>
                    <a:ext uri="{9D8B030D-6E8A-4147-A177-3AD203B41FA5}">
                      <a16:colId xmlns:a16="http://schemas.microsoft.com/office/drawing/2014/main" val="3825939312"/>
                    </a:ext>
                  </a:extLst>
                </a:gridCol>
                <a:gridCol w="1165372">
                  <a:extLst>
                    <a:ext uri="{9D8B030D-6E8A-4147-A177-3AD203B41FA5}">
                      <a16:colId xmlns:a16="http://schemas.microsoft.com/office/drawing/2014/main" val="17361693"/>
                    </a:ext>
                  </a:extLst>
                </a:gridCol>
              </a:tblGrid>
              <a:tr h="4042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운영 항목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운영 기준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월 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100kW</a:t>
                      </a:r>
                    </a:p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사용 시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(1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기당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bg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200kW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사용 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기당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300kW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사용 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기당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400kW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사용 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기당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500kW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사용 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기당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700kW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사용 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기당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1,000kW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사용 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기당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310547"/>
                  </a:ext>
                </a:extLst>
              </a:tr>
              <a:tr h="383823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ⓐ </a:t>
                      </a:r>
                      <a:r>
                        <a:rPr lang="en-US" altLang="ko-KR" sz="1000" b="0" dirty="0" err="1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evCloud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이용료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5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 운영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무료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무료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무료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무료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무료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무료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무료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168724"/>
                  </a:ext>
                </a:extLst>
              </a:tr>
              <a:tr h="383823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ⓑ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운영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통신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의무납부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5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 운영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439,000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439,000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439,000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439,000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439,000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439,000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439,000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03197"/>
                  </a:ext>
                </a:extLst>
              </a:tr>
              <a:tr h="383823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ⓒ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전기비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5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 운영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1,820,000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2,556,000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3,293,000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4,029,000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4,765,000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6,974,000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8,447,000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723850"/>
                  </a:ext>
                </a:extLst>
              </a:tr>
              <a:tr h="383823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ⓓ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지출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합계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ⓐ+ⓑ+ⓒ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2,259,000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2,995,000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3,732,000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4,468,000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5,204,000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7,413,000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8,886,000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294717"/>
                  </a:ext>
                </a:extLst>
              </a:tr>
              <a:tr h="38382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ⓔ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매출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C00000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320</a:t>
                      </a:r>
                      <a:r>
                        <a:rPr lang="ko-KR" altLang="en-US" sz="1000" b="0" dirty="0">
                          <a:solidFill>
                            <a:srgbClr val="C00000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  <a:r>
                        <a:rPr lang="en-US" altLang="ko-KR" sz="1000" b="0" dirty="0">
                          <a:solidFill>
                            <a:srgbClr val="C00000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/kWh</a:t>
                      </a: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, 5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 운영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1,920,000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3,840,000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5,760,000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7,680,000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9,600,000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13,440,000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19,200,000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624989"/>
                  </a:ext>
                </a:extLst>
              </a:tr>
              <a:tr h="38382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ⓕ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손익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ⓔ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-ⓓ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C000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-339,000</a:t>
                      </a:r>
                      <a:endParaRPr lang="ko-KR" altLang="en-US" sz="1000" b="0" dirty="0">
                        <a:solidFill>
                          <a:srgbClr val="C0000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0070C0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845,000</a:t>
                      </a:r>
                      <a:endParaRPr lang="ko-KR" altLang="en-US" sz="1000" b="0" dirty="0">
                        <a:solidFill>
                          <a:srgbClr val="0070C0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0070C0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2,028,000</a:t>
                      </a:r>
                      <a:endParaRPr lang="ko-KR" altLang="en-US" sz="1000" b="0" dirty="0">
                        <a:solidFill>
                          <a:srgbClr val="0070C0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0070C0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3,212,000</a:t>
                      </a:r>
                      <a:endParaRPr lang="ko-KR" altLang="en-US" sz="1000" b="0" dirty="0">
                        <a:solidFill>
                          <a:srgbClr val="0070C0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0070C0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4,396,000</a:t>
                      </a:r>
                      <a:endParaRPr lang="ko-KR" altLang="en-US" sz="1000" b="0" dirty="0">
                        <a:solidFill>
                          <a:srgbClr val="0070C0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0070C0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6,027,000</a:t>
                      </a:r>
                      <a:endParaRPr lang="ko-KR" altLang="en-US" sz="1000" b="0" dirty="0">
                        <a:solidFill>
                          <a:srgbClr val="0070C0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0070C0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10,314,000</a:t>
                      </a:r>
                      <a:endParaRPr lang="ko-KR" altLang="en-US" sz="1000" b="0" dirty="0">
                        <a:solidFill>
                          <a:srgbClr val="0070C0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94742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22633CB-C8B1-8334-1C78-75AD8CF259D0}"/>
              </a:ext>
            </a:extLst>
          </p:cNvPr>
          <p:cNvSpPr txBox="1"/>
          <p:nvPr/>
        </p:nvSpPr>
        <p:spPr>
          <a:xfrm>
            <a:off x="515937" y="2021552"/>
            <a:ext cx="87894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ⓐ </a:t>
            </a:r>
            <a:r>
              <a:rPr lang="ko-KR" altLang="en-US" sz="1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수익형 운영모델 연간 손익</a:t>
            </a:r>
            <a:endParaRPr lang="en-US" altLang="ko-KR" sz="1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C95A48-1C12-130D-78F3-7F37B8266071}"/>
              </a:ext>
            </a:extLst>
          </p:cNvPr>
          <p:cNvSpPr txBox="1"/>
          <p:nvPr/>
        </p:nvSpPr>
        <p:spPr>
          <a:xfrm>
            <a:off x="7046255" y="5082989"/>
            <a:ext cx="4679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※ </a:t>
            </a:r>
            <a:r>
              <a:rPr lang="ko-KR" altLang="en-US" sz="9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통상적으로 월 사용량 아파트의 경우 </a:t>
            </a:r>
            <a:r>
              <a:rPr lang="en-US" altLang="ko-KR" sz="9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400~500kW </a:t>
            </a:r>
            <a:r>
              <a:rPr lang="ko-KR" altLang="en-US" sz="9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이상</a:t>
            </a:r>
            <a:r>
              <a:rPr lang="en-US" altLang="ko-KR" sz="9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sz="9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기타 시설의 경우 </a:t>
            </a:r>
            <a:r>
              <a:rPr lang="en-US" altLang="ko-KR" sz="9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300kW </a:t>
            </a:r>
            <a:r>
              <a:rPr lang="ko-KR" altLang="en-US" sz="9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내외</a:t>
            </a:r>
            <a:endParaRPr lang="en-US" altLang="ko-KR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r"/>
            <a:r>
              <a:rPr lang="en-US" altLang="ko-KR" sz="9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PG </a:t>
            </a:r>
            <a:r>
              <a:rPr lang="ko-KR" altLang="en-US" sz="9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수수료 추가 필요</a:t>
            </a:r>
            <a:r>
              <a:rPr lang="en-US" altLang="ko-KR" sz="9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</a:t>
            </a:r>
            <a:r>
              <a:rPr lang="ko-KR" altLang="en-US" sz="9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매출</a:t>
            </a:r>
            <a:r>
              <a:rPr lang="en-US" altLang="ko-KR" sz="9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*2.55)</a:t>
            </a:r>
          </a:p>
        </p:txBody>
      </p:sp>
    </p:spTree>
    <p:extLst>
      <p:ext uri="{BB962C8B-B14F-4D97-AF65-F5344CB8AC3E}">
        <p14:creationId xmlns:p14="http://schemas.microsoft.com/office/powerpoint/2010/main" val="402668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3BA5E-D565-851A-AAD6-C505640EB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2">
            <a:extLst>
              <a:ext uri="{FF2B5EF4-FFF2-40B4-BE49-F238E27FC236}">
                <a16:creationId xmlns:a16="http://schemas.microsoft.com/office/drawing/2014/main" id="{791A3763-1955-5DF5-B575-DAD108D23E2B}"/>
              </a:ext>
            </a:extLst>
          </p:cNvPr>
          <p:cNvSpPr txBox="1">
            <a:spLocks/>
          </p:cNvSpPr>
          <p:nvPr/>
        </p:nvSpPr>
        <p:spPr>
          <a:xfrm>
            <a:off x="611232" y="688788"/>
            <a:ext cx="8987995" cy="332399"/>
          </a:xfrm>
          <a:prstGeom prst="rect">
            <a:avLst/>
          </a:prstGeom>
        </p:spPr>
        <p:txBody>
          <a:bodyPr lIns="0" tIns="0" rIns="0" bIns="0"/>
          <a:lstStyle>
            <a:lvl1pPr algn="l" defTabSz="103674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98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gradFill>
                  <a:gsLst>
                    <a:gs pos="57522">
                      <a:schemeClr val="bg1"/>
                    </a:gs>
                    <a:gs pos="51000">
                      <a:schemeClr val="bg1"/>
                    </a:gs>
                  </a:gsLst>
                  <a:lin ang="5400000" scaled="1"/>
                </a:gra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고객 </a:t>
            </a:r>
            <a:r>
              <a:rPr lang="en-US" altLang="ko-KR" sz="24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gradFill>
                  <a:gsLst>
                    <a:gs pos="57522">
                      <a:schemeClr val="bg1"/>
                    </a:gs>
                    <a:gs pos="51000">
                      <a:schemeClr val="bg1"/>
                    </a:gs>
                  </a:gsLst>
                  <a:lin ang="5400000" scaled="1"/>
                </a:gra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Benefit</a:t>
            </a:r>
            <a:endParaRPr lang="ko-KR" altLang="en-US" sz="240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gradFill>
                <a:gsLst>
                  <a:gs pos="57522">
                    <a:schemeClr val="bg1"/>
                  </a:gs>
                  <a:gs pos="51000">
                    <a:schemeClr val="bg1"/>
                  </a:gs>
                </a:gsLst>
                <a:lin ang="5400000" scaled="1"/>
              </a:gra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D30CFFD4-0638-8DCC-1755-49A01C511E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382436"/>
              </p:ext>
            </p:extLst>
          </p:nvPr>
        </p:nvGraphicFramePr>
        <p:xfrm>
          <a:off x="515937" y="1551080"/>
          <a:ext cx="11155832" cy="236173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36981">
                  <a:extLst>
                    <a:ext uri="{9D8B030D-6E8A-4147-A177-3AD203B41FA5}">
                      <a16:colId xmlns:a16="http://schemas.microsoft.com/office/drawing/2014/main" val="2123231812"/>
                    </a:ext>
                  </a:extLst>
                </a:gridCol>
                <a:gridCol w="1461247">
                  <a:extLst>
                    <a:ext uri="{9D8B030D-6E8A-4147-A177-3AD203B41FA5}">
                      <a16:colId xmlns:a16="http://schemas.microsoft.com/office/drawing/2014/main" val="4065447115"/>
                    </a:ext>
                  </a:extLst>
                </a:gridCol>
                <a:gridCol w="1165372">
                  <a:extLst>
                    <a:ext uri="{9D8B030D-6E8A-4147-A177-3AD203B41FA5}">
                      <a16:colId xmlns:a16="http://schemas.microsoft.com/office/drawing/2014/main" val="3085112878"/>
                    </a:ext>
                  </a:extLst>
                </a:gridCol>
                <a:gridCol w="1165372">
                  <a:extLst>
                    <a:ext uri="{9D8B030D-6E8A-4147-A177-3AD203B41FA5}">
                      <a16:colId xmlns:a16="http://schemas.microsoft.com/office/drawing/2014/main" val="3737358458"/>
                    </a:ext>
                  </a:extLst>
                </a:gridCol>
                <a:gridCol w="1165372">
                  <a:extLst>
                    <a:ext uri="{9D8B030D-6E8A-4147-A177-3AD203B41FA5}">
                      <a16:colId xmlns:a16="http://schemas.microsoft.com/office/drawing/2014/main" val="2330128613"/>
                    </a:ext>
                  </a:extLst>
                </a:gridCol>
                <a:gridCol w="1165372">
                  <a:extLst>
                    <a:ext uri="{9D8B030D-6E8A-4147-A177-3AD203B41FA5}">
                      <a16:colId xmlns:a16="http://schemas.microsoft.com/office/drawing/2014/main" val="1189218151"/>
                    </a:ext>
                  </a:extLst>
                </a:gridCol>
                <a:gridCol w="1165372">
                  <a:extLst>
                    <a:ext uri="{9D8B030D-6E8A-4147-A177-3AD203B41FA5}">
                      <a16:colId xmlns:a16="http://schemas.microsoft.com/office/drawing/2014/main" val="1656704960"/>
                    </a:ext>
                  </a:extLst>
                </a:gridCol>
                <a:gridCol w="1165372">
                  <a:extLst>
                    <a:ext uri="{9D8B030D-6E8A-4147-A177-3AD203B41FA5}">
                      <a16:colId xmlns:a16="http://schemas.microsoft.com/office/drawing/2014/main" val="3825939312"/>
                    </a:ext>
                  </a:extLst>
                </a:gridCol>
                <a:gridCol w="1165372">
                  <a:extLst>
                    <a:ext uri="{9D8B030D-6E8A-4147-A177-3AD203B41FA5}">
                      <a16:colId xmlns:a16="http://schemas.microsoft.com/office/drawing/2014/main" val="17361693"/>
                    </a:ext>
                  </a:extLst>
                </a:gridCol>
              </a:tblGrid>
              <a:tr h="3741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운영 항목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운영 기준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월 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100kW</a:t>
                      </a:r>
                    </a:p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사용 시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(1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기당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bg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200kW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사용 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기당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300kW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사용 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기당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400kW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사용 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기당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500kW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사용 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기당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700kW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사용 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기당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1,000kW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사용 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기당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310547"/>
                  </a:ext>
                </a:extLst>
              </a:tr>
              <a:tr h="32758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ⓐ </a:t>
                      </a:r>
                      <a:r>
                        <a:rPr lang="en-US" altLang="ko-KR" sz="1000" b="0" dirty="0" err="1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evCloud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이용료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5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 운영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무료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무료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무료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무료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무료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무료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무료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168724"/>
                  </a:ext>
                </a:extLst>
              </a:tr>
              <a:tr h="32758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ⓑ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운영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통신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의무납부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5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 운영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439,000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439,000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439,000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439,000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439,000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439,000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439,000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03197"/>
                  </a:ext>
                </a:extLst>
              </a:tr>
              <a:tr h="32758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ⓒ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전기비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5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 운영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1,820,000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2,556,000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3,293,000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4,029,000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4,765,000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6,974,000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8,447,000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723850"/>
                  </a:ext>
                </a:extLst>
              </a:tr>
              <a:tr h="32758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ⓓ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지출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합계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ⓐ+ⓑ+ⓒ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2,259,000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2,995,000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3,732,000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4,468,000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5,204,000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7,413,000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8,886,000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294717"/>
                  </a:ext>
                </a:extLst>
              </a:tr>
              <a:tr h="3275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ⓔ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매출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C00000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200</a:t>
                      </a:r>
                      <a:r>
                        <a:rPr lang="ko-KR" altLang="en-US" sz="1000" b="0" dirty="0">
                          <a:solidFill>
                            <a:srgbClr val="C00000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  <a:r>
                        <a:rPr lang="en-US" altLang="ko-KR" sz="1000" b="0" dirty="0">
                          <a:solidFill>
                            <a:srgbClr val="C00000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/kWh</a:t>
                      </a: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, 5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 운영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1,200,000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2,400,000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3,600,000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4,800,000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6,000,000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8,400,000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12,000,000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624989"/>
                  </a:ext>
                </a:extLst>
              </a:tr>
              <a:tr h="3275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ⓕ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손익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ⓔ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-ⓓ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C000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-1,059,000</a:t>
                      </a:r>
                      <a:endParaRPr lang="ko-KR" altLang="en-US" sz="1000" b="0" dirty="0">
                        <a:solidFill>
                          <a:srgbClr val="C0000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C000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-595,000</a:t>
                      </a:r>
                      <a:endParaRPr lang="ko-KR" altLang="en-US" sz="1000" b="0" dirty="0">
                        <a:solidFill>
                          <a:srgbClr val="C0000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C000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-132,000</a:t>
                      </a:r>
                      <a:endParaRPr lang="ko-KR" altLang="en-US" sz="1000" b="0" dirty="0">
                        <a:solidFill>
                          <a:srgbClr val="C0000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0070C0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332,000</a:t>
                      </a:r>
                      <a:endParaRPr lang="ko-KR" altLang="en-US" sz="1000" b="0" dirty="0">
                        <a:solidFill>
                          <a:srgbClr val="0070C0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0070C0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796,000</a:t>
                      </a:r>
                      <a:endParaRPr lang="ko-KR" altLang="en-US" sz="1000" b="0" dirty="0">
                        <a:solidFill>
                          <a:srgbClr val="0070C0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0070C0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987,000</a:t>
                      </a:r>
                      <a:endParaRPr lang="ko-KR" altLang="en-US" sz="1000" b="0" dirty="0">
                        <a:solidFill>
                          <a:srgbClr val="0070C0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0070C0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3,114,000</a:t>
                      </a:r>
                      <a:endParaRPr lang="ko-KR" altLang="en-US" sz="1000" b="0" dirty="0">
                        <a:solidFill>
                          <a:srgbClr val="0070C0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94742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056652C-5905-74FA-7FDB-F53EEDFAE8BD}"/>
              </a:ext>
            </a:extLst>
          </p:cNvPr>
          <p:cNvSpPr txBox="1"/>
          <p:nvPr/>
        </p:nvSpPr>
        <p:spPr>
          <a:xfrm>
            <a:off x="515937" y="1268515"/>
            <a:ext cx="87894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ⓑ </a:t>
            </a:r>
            <a:r>
              <a:rPr lang="ko-KR" altLang="en-US" sz="1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고객 복지형 운영모델 연간 손익</a:t>
            </a:r>
            <a:endParaRPr lang="en-US" altLang="ko-KR" sz="1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484D977-7D6B-F73F-F69E-153B0F609C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693751"/>
              </p:ext>
            </p:extLst>
          </p:nvPr>
        </p:nvGraphicFramePr>
        <p:xfrm>
          <a:off x="515937" y="4365453"/>
          <a:ext cx="11155832" cy="236173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36981">
                  <a:extLst>
                    <a:ext uri="{9D8B030D-6E8A-4147-A177-3AD203B41FA5}">
                      <a16:colId xmlns:a16="http://schemas.microsoft.com/office/drawing/2014/main" val="2123231812"/>
                    </a:ext>
                  </a:extLst>
                </a:gridCol>
                <a:gridCol w="1461247">
                  <a:extLst>
                    <a:ext uri="{9D8B030D-6E8A-4147-A177-3AD203B41FA5}">
                      <a16:colId xmlns:a16="http://schemas.microsoft.com/office/drawing/2014/main" val="4065447115"/>
                    </a:ext>
                  </a:extLst>
                </a:gridCol>
                <a:gridCol w="1165372">
                  <a:extLst>
                    <a:ext uri="{9D8B030D-6E8A-4147-A177-3AD203B41FA5}">
                      <a16:colId xmlns:a16="http://schemas.microsoft.com/office/drawing/2014/main" val="3085112878"/>
                    </a:ext>
                  </a:extLst>
                </a:gridCol>
                <a:gridCol w="1165372">
                  <a:extLst>
                    <a:ext uri="{9D8B030D-6E8A-4147-A177-3AD203B41FA5}">
                      <a16:colId xmlns:a16="http://schemas.microsoft.com/office/drawing/2014/main" val="3737358458"/>
                    </a:ext>
                  </a:extLst>
                </a:gridCol>
                <a:gridCol w="1165372">
                  <a:extLst>
                    <a:ext uri="{9D8B030D-6E8A-4147-A177-3AD203B41FA5}">
                      <a16:colId xmlns:a16="http://schemas.microsoft.com/office/drawing/2014/main" val="2330128613"/>
                    </a:ext>
                  </a:extLst>
                </a:gridCol>
                <a:gridCol w="1165372">
                  <a:extLst>
                    <a:ext uri="{9D8B030D-6E8A-4147-A177-3AD203B41FA5}">
                      <a16:colId xmlns:a16="http://schemas.microsoft.com/office/drawing/2014/main" val="1189218151"/>
                    </a:ext>
                  </a:extLst>
                </a:gridCol>
                <a:gridCol w="1165372">
                  <a:extLst>
                    <a:ext uri="{9D8B030D-6E8A-4147-A177-3AD203B41FA5}">
                      <a16:colId xmlns:a16="http://schemas.microsoft.com/office/drawing/2014/main" val="1656704960"/>
                    </a:ext>
                  </a:extLst>
                </a:gridCol>
                <a:gridCol w="1165372">
                  <a:extLst>
                    <a:ext uri="{9D8B030D-6E8A-4147-A177-3AD203B41FA5}">
                      <a16:colId xmlns:a16="http://schemas.microsoft.com/office/drawing/2014/main" val="3825939312"/>
                    </a:ext>
                  </a:extLst>
                </a:gridCol>
                <a:gridCol w="1165372">
                  <a:extLst>
                    <a:ext uri="{9D8B030D-6E8A-4147-A177-3AD203B41FA5}">
                      <a16:colId xmlns:a16="http://schemas.microsoft.com/office/drawing/2014/main" val="17361693"/>
                    </a:ext>
                  </a:extLst>
                </a:gridCol>
              </a:tblGrid>
              <a:tr h="3741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운영 항목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운영 기준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월 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100kW</a:t>
                      </a:r>
                    </a:p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사용 시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(1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기당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bg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200kW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사용 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기당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300kW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사용 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기당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400kW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사용 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기당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500kW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사용 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기당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700kW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사용 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기당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1,000kW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사용 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기당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310547"/>
                  </a:ext>
                </a:extLst>
              </a:tr>
              <a:tr h="32758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ⓐ </a:t>
                      </a:r>
                      <a:r>
                        <a:rPr lang="en-US" altLang="ko-KR" sz="1000" b="0" dirty="0" err="1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evCloud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이용료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5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 운영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무료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무료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무료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무료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무료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무료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무료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168724"/>
                  </a:ext>
                </a:extLst>
              </a:tr>
              <a:tr h="32758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ⓑ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운영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통신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의무납부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5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 운영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439,000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439,000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439,000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439,000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439,000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439,000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439,000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03197"/>
                  </a:ext>
                </a:extLst>
              </a:tr>
              <a:tr h="32758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ⓒ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전기비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5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 운영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1,820,000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2,556,000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3,293,000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4,029,000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4,765,000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6,974,000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8,447,000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723850"/>
                  </a:ext>
                </a:extLst>
              </a:tr>
              <a:tr h="32758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ⓓ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지출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합계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ⓐ+ⓑ+ⓒ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2,259,000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2,995,000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3,732,000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4,468,000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5,204,000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7,413,000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8,886,000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294717"/>
                  </a:ext>
                </a:extLst>
              </a:tr>
              <a:tr h="3275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ⓔ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매출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C00000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250</a:t>
                      </a:r>
                      <a:r>
                        <a:rPr lang="ko-KR" altLang="en-US" sz="1000" b="0" dirty="0">
                          <a:solidFill>
                            <a:srgbClr val="C00000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  <a:r>
                        <a:rPr lang="en-US" altLang="ko-KR" sz="1000" b="0" dirty="0">
                          <a:solidFill>
                            <a:srgbClr val="C00000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/kWh</a:t>
                      </a:r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, 5</a:t>
                      </a:r>
                      <a:r>
                        <a:rPr lang="ko-KR" altLang="en-US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 운영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1,500,000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3,000,000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4,500,000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6,000,000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7,500,000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10,500,000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15,000,000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624989"/>
                  </a:ext>
                </a:extLst>
              </a:tr>
              <a:tr h="3275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ⓕ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손익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ⓔ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-ⓓ</a:t>
                      </a:r>
                      <a:endParaRPr lang="ko-KR" altLang="en-US" sz="1000" b="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C000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-759,000</a:t>
                      </a:r>
                      <a:endParaRPr lang="ko-KR" altLang="en-US" sz="1000" b="0" dirty="0">
                        <a:solidFill>
                          <a:srgbClr val="C0000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0070C0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5,000</a:t>
                      </a:r>
                      <a:endParaRPr lang="ko-KR" altLang="en-US" sz="1000" b="0" dirty="0">
                        <a:solidFill>
                          <a:srgbClr val="0070C0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0070C0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768,000</a:t>
                      </a:r>
                      <a:endParaRPr lang="ko-KR" altLang="en-US" sz="1000" b="0" dirty="0">
                        <a:solidFill>
                          <a:srgbClr val="0070C0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0070C0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1,532,000</a:t>
                      </a:r>
                      <a:endParaRPr lang="ko-KR" altLang="en-US" sz="1000" b="0" dirty="0">
                        <a:solidFill>
                          <a:srgbClr val="0070C0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0070C0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2,296,000</a:t>
                      </a:r>
                      <a:endParaRPr lang="ko-KR" altLang="en-US" sz="1000" b="0" dirty="0">
                        <a:solidFill>
                          <a:srgbClr val="0070C0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0070C0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3,087,000</a:t>
                      </a:r>
                      <a:endParaRPr lang="ko-KR" altLang="en-US" sz="1000" b="0" dirty="0">
                        <a:solidFill>
                          <a:srgbClr val="0070C0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0070C0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6,114,000</a:t>
                      </a:r>
                      <a:endParaRPr lang="ko-KR" altLang="en-US" sz="1000" b="0" dirty="0">
                        <a:solidFill>
                          <a:srgbClr val="0070C0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94742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B935CCA-039B-84C0-B362-F1A928699C87}"/>
              </a:ext>
            </a:extLst>
          </p:cNvPr>
          <p:cNvSpPr txBox="1"/>
          <p:nvPr/>
        </p:nvSpPr>
        <p:spPr>
          <a:xfrm>
            <a:off x="515937" y="4082888"/>
            <a:ext cx="87894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ⓒ </a:t>
            </a:r>
            <a:r>
              <a:rPr lang="ko-KR" altLang="en-US" sz="1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밸런스형 운영모델 연간 손익</a:t>
            </a:r>
            <a:endParaRPr lang="en-US" altLang="ko-KR" sz="1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978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5FD8F-8556-6C92-8B60-7C5D674D8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2">
            <a:extLst>
              <a:ext uri="{FF2B5EF4-FFF2-40B4-BE49-F238E27FC236}">
                <a16:creationId xmlns:a16="http://schemas.microsoft.com/office/drawing/2014/main" id="{1C4A5F1D-CE4F-2FB6-3B61-E7D36BAF85AC}"/>
              </a:ext>
            </a:extLst>
          </p:cNvPr>
          <p:cNvSpPr txBox="1">
            <a:spLocks/>
          </p:cNvSpPr>
          <p:nvPr/>
        </p:nvSpPr>
        <p:spPr>
          <a:xfrm>
            <a:off x="611232" y="688788"/>
            <a:ext cx="8987995" cy="332399"/>
          </a:xfrm>
          <a:prstGeom prst="rect">
            <a:avLst/>
          </a:prstGeom>
        </p:spPr>
        <p:txBody>
          <a:bodyPr lIns="0" tIns="0" rIns="0" bIns="0"/>
          <a:lstStyle>
            <a:lvl1pPr algn="l" defTabSz="103674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98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gradFill>
                  <a:gsLst>
                    <a:gs pos="57522">
                      <a:schemeClr val="bg1"/>
                    </a:gs>
                    <a:gs pos="51000">
                      <a:schemeClr val="bg1"/>
                    </a:gs>
                  </a:gsLst>
                  <a:lin ang="5400000" scaled="1"/>
                </a:gra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추가 개발 사항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3E05CE-94A1-65B7-513F-BD4274B53A50}"/>
              </a:ext>
            </a:extLst>
          </p:cNvPr>
          <p:cNvSpPr txBox="1"/>
          <p:nvPr/>
        </p:nvSpPr>
        <p:spPr>
          <a:xfrm>
            <a:off x="447111" y="1195622"/>
            <a:ext cx="87894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정산 페이지</a:t>
            </a:r>
            <a:r>
              <a:rPr lang="en-US" altLang="ko-KR" sz="12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</a:t>
            </a:r>
            <a:r>
              <a:rPr lang="ko-KR" altLang="en-US" sz="12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정기적</a:t>
            </a:r>
            <a:r>
              <a:rPr lang="en-US" altLang="ko-KR" sz="12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12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비정기적</a:t>
            </a:r>
            <a:r>
              <a:rPr lang="en-US" altLang="ko-KR" sz="12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) </a:t>
            </a:r>
            <a:r>
              <a:rPr lang="ko-KR" altLang="en-US" sz="12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금액</a:t>
            </a:r>
            <a:r>
              <a:rPr lang="en-US" altLang="ko-KR" sz="12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sz="12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고객별 체크 가능 </a:t>
            </a:r>
            <a:r>
              <a:rPr lang="en-US" altLang="ko-KR" sz="12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</a:t>
            </a:r>
            <a:r>
              <a:rPr lang="ko-KR" altLang="en-US" sz="12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마스터 관리자 확인</a:t>
            </a:r>
            <a:r>
              <a:rPr lang="en-US" altLang="ko-KR" sz="12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), </a:t>
            </a:r>
            <a:r>
              <a:rPr lang="ko-KR" altLang="en-US" sz="12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자동 과금</a:t>
            </a:r>
            <a:endParaRPr lang="en-US" altLang="ko-KR" sz="1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957FCBE-AA0A-A137-21D9-25CBA01386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7723416"/>
              </p:ext>
            </p:extLst>
          </p:nvPr>
        </p:nvGraphicFramePr>
        <p:xfrm>
          <a:off x="447111" y="1441378"/>
          <a:ext cx="11160126" cy="5488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16791">
                  <a:extLst>
                    <a:ext uri="{9D8B030D-6E8A-4147-A177-3AD203B41FA5}">
                      <a16:colId xmlns:a16="http://schemas.microsoft.com/office/drawing/2014/main" val="2123231812"/>
                    </a:ext>
                  </a:extLst>
                </a:gridCol>
                <a:gridCol w="1475161">
                  <a:extLst>
                    <a:ext uri="{9D8B030D-6E8A-4147-A177-3AD203B41FA5}">
                      <a16:colId xmlns:a16="http://schemas.microsoft.com/office/drawing/2014/main" val="2376758836"/>
                    </a:ext>
                  </a:extLst>
                </a:gridCol>
                <a:gridCol w="1069897">
                  <a:extLst>
                    <a:ext uri="{9D8B030D-6E8A-4147-A177-3AD203B41FA5}">
                      <a16:colId xmlns:a16="http://schemas.microsoft.com/office/drawing/2014/main" val="2252978242"/>
                    </a:ext>
                  </a:extLst>
                </a:gridCol>
                <a:gridCol w="1069897">
                  <a:extLst>
                    <a:ext uri="{9D8B030D-6E8A-4147-A177-3AD203B41FA5}">
                      <a16:colId xmlns:a16="http://schemas.microsoft.com/office/drawing/2014/main" val="3051857110"/>
                    </a:ext>
                  </a:extLst>
                </a:gridCol>
                <a:gridCol w="1246187">
                  <a:extLst>
                    <a:ext uri="{9D8B030D-6E8A-4147-A177-3AD203B41FA5}">
                      <a16:colId xmlns:a16="http://schemas.microsoft.com/office/drawing/2014/main" val="4065447115"/>
                    </a:ext>
                  </a:extLst>
                </a:gridCol>
                <a:gridCol w="1246187">
                  <a:extLst>
                    <a:ext uri="{9D8B030D-6E8A-4147-A177-3AD203B41FA5}">
                      <a16:colId xmlns:a16="http://schemas.microsoft.com/office/drawing/2014/main" val="3085112878"/>
                    </a:ext>
                  </a:extLst>
                </a:gridCol>
                <a:gridCol w="1246187">
                  <a:extLst>
                    <a:ext uri="{9D8B030D-6E8A-4147-A177-3AD203B41FA5}">
                      <a16:colId xmlns:a16="http://schemas.microsoft.com/office/drawing/2014/main" val="3737358458"/>
                    </a:ext>
                  </a:extLst>
                </a:gridCol>
                <a:gridCol w="1246187">
                  <a:extLst>
                    <a:ext uri="{9D8B030D-6E8A-4147-A177-3AD203B41FA5}">
                      <a16:colId xmlns:a16="http://schemas.microsoft.com/office/drawing/2014/main" val="2330128613"/>
                    </a:ext>
                  </a:extLst>
                </a:gridCol>
                <a:gridCol w="771816">
                  <a:extLst>
                    <a:ext uri="{9D8B030D-6E8A-4147-A177-3AD203B41FA5}">
                      <a16:colId xmlns:a16="http://schemas.microsoft.com/office/drawing/2014/main" val="1189218151"/>
                    </a:ext>
                  </a:extLst>
                </a:gridCol>
                <a:gridCol w="771816">
                  <a:extLst>
                    <a:ext uri="{9D8B030D-6E8A-4147-A177-3AD203B41FA5}">
                      <a16:colId xmlns:a16="http://schemas.microsoft.com/office/drawing/2014/main" val="1656704960"/>
                    </a:ext>
                  </a:extLst>
                </a:gridCol>
              </a:tblGrid>
              <a:tr h="42258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항목</a:t>
                      </a:r>
                      <a:endParaRPr lang="en-US" altLang="ko-KR" sz="1200" b="0" dirty="0">
                        <a:solidFill>
                          <a:schemeClr val="bg1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세부항목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과금 주기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정기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(O)</a:t>
                      </a: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/</a:t>
                      </a:r>
                      <a:r>
                        <a:rPr lang="ko-KR" altLang="en-US" sz="1200" b="0" dirty="0" err="1">
                          <a:solidFill>
                            <a:schemeClr val="bg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비정기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(X)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Basic</a:t>
                      </a:r>
                    </a:p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가입 제한 없음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bg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Pro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충전기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100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기 이상 가입 가능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Enterprise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757846"/>
                  </a:ext>
                </a:extLst>
              </a:tr>
              <a:tr h="35082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bg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기본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무료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옵션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유료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기본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무료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옵션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유료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기본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무료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옵션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유료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310547"/>
                  </a:ext>
                </a:extLst>
              </a:tr>
              <a:tr h="395516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충전기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충전소 등록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충전기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-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시스템 연동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월간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O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10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 이하 무료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초과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기당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10,000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연동 수량별 단가 상이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테이블 단가표 참조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13"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커스터마이징 개발</a:t>
                      </a:r>
                      <a:endParaRPr lang="en-US" altLang="ko-KR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  <a:p>
                      <a:pPr algn="ctr" latinLnBrk="1"/>
                      <a:r>
                        <a:rPr lang="en-US" altLang="ko-KR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(</a:t>
                      </a:r>
                      <a:r>
                        <a:rPr lang="ko-KR" altLang="en-US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별도 협의</a:t>
                      </a:r>
                      <a:r>
                        <a:rPr lang="en-US" altLang="ko-KR" sz="10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)</a:t>
                      </a:r>
                      <a:endParaRPr lang="ko-KR" alt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586146"/>
                  </a:ext>
                </a:extLst>
              </a:tr>
              <a:tr h="34624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충전소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-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시스템 연동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월간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O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5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개소 이하 무료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초과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개소 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10,000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무제한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무제한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03197"/>
                  </a:ext>
                </a:extLst>
              </a:tr>
              <a:tr h="39551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충전기 모델 프로토콜 연동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연동 건 당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O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타디스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연동완료 모델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타디스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연동완료 모델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추가 모델 연동 시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별도 협의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723850"/>
                  </a:ext>
                </a:extLst>
              </a:tr>
              <a:tr h="33312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통신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라우터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구매비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최초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O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30,000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30,000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294717"/>
                  </a:ext>
                </a:extLst>
              </a:tr>
              <a:tr h="33312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통신비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월간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O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8,900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8,900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624989"/>
                  </a:ext>
                </a:extLst>
              </a:tr>
              <a:tr h="33312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AS / CS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365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일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24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시간 콜센터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월간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O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10,000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10,000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947420"/>
                  </a:ext>
                </a:extLst>
              </a:tr>
              <a:tr h="39551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AS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비용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이슈 발생 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출장비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6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만원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자재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공임비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별도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출장비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6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만원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자재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공임비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별도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559718"/>
                  </a:ext>
                </a:extLst>
              </a:tr>
              <a:tr h="346248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요금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/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정산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요금제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추가 개발 건당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단일 요금제 제공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단일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계시별 요금제 제공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325870"/>
                  </a:ext>
                </a:extLst>
              </a:tr>
              <a:tr h="39551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PG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이용 및 정산 서비스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월간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위탁 정산 가능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매출의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5%)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기본형 제공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781012"/>
                  </a:ext>
                </a:extLst>
              </a:tr>
              <a:tr h="33312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쿠폰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/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포인트 제도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추가 개발 건당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500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추가시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4746122"/>
                  </a:ext>
                </a:extLst>
              </a:tr>
              <a:tr h="33312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로밍 요금제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협약 건 당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타디스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PG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위탁시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가능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기본형 제공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254941"/>
                  </a:ext>
                </a:extLst>
              </a:tr>
              <a:tr h="33312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옵션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스마트제어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(DR)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추가 개발 건당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기당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500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원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추가시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충전기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지원시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 가능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1357895"/>
                  </a:ext>
                </a:extLst>
              </a:tr>
              <a:tr h="33312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Dash Board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구현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추가 개발 건당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기본형 제공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Pretendard Light" panose="02000403000000020004" pitchFamily="50" charset="-127"/>
                        </a:rPr>
                        <a:t>X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162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5377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B64B102B-39DD-4982-80FF-872C3DD9AEA9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6CC71C-685B-4A02-98FE-6600568435F6}"/>
              </a:ext>
            </a:extLst>
          </p:cNvPr>
          <p:cNvSpPr txBox="1"/>
          <p:nvPr/>
        </p:nvSpPr>
        <p:spPr>
          <a:xfrm>
            <a:off x="3303181" y="2669916"/>
            <a:ext cx="5585638" cy="6673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4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Roboto Black" panose="02000000000000000000" pitchFamily="50" charset="0"/>
              </a:rPr>
              <a:t>감사합니다</a:t>
            </a:r>
            <a:endParaRPr kumimoji="0" lang="en-US" altLang="ko-KR" sz="4400" b="1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Roboto Black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62779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SUIT ExtraBold"/>
        <a:ea typeface="SUIT ExtraBold"/>
        <a:cs typeface=""/>
      </a:majorFont>
      <a:minorFont>
        <a:latin typeface="SUIT"/>
        <a:ea typeface="SUI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8800</TotalTime>
  <Words>1977</Words>
  <Application>Microsoft Office PowerPoint</Application>
  <PresentationFormat>와이드스크린</PresentationFormat>
  <Paragraphs>665</Paragraphs>
  <Slides>10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Noto Sans KR Black</vt:lpstr>
      <vt:lpstr>Arial</vt:lpstr>
      <vt:lpstr>Noto Sans KR Medium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다예 김</dc:creator>
  <cp:lastModifiedBy>최 인국</cp:lastModifiedBy>
  <cp:revision>652</cp:revision>
  <cp:lastPrinted>2023-08-02T02:19:07Z</cp:lastPrinted>
  <dcterms:created xsi:type="dcterms:W3CDTF">2023-07-03T02:28:32Z</dcterms:created>
  <dcterms:modified xsi:type="dcterms:W3CDTF">2026-07-23T12:02:10Z</dcterms:modified>
</cp:coreProperties>
</file>